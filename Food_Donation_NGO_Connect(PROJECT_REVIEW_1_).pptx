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19" roundtripDataSignature="AMtx7mj6BCLujrwHlsE4cTf6avV4m/8p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F635001-5755-4E3A-B308-4EEC7132579B}">
  <a:tblStyle styleId="{7F635001-5755-4E3A-B308-4EEC7132579B}"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F3C4331B-FEF9-421A-AFFD-7D67219054B6}" styleName="Table_1">
    <a:wholeTbl>
      <a:tcTxStyle b="off" i="off">
        <a:font>
          <a:latin typeface="Calibri"/>
          <a:ea typeface="Calibri"/>
          <a:cs typeface="Calibri"/>
        </a:font>
        <a:schemeClr val="dk1"/>
      </a:tcTxStyle>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tcBdr>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tcBdr>
      </a:tcStyle>
    </a:band1H>
    <a:band2H>
      <a:tcTxStyle b="off" i="off"/>
    </a:band2H>
    <a:band1V>
      <a:tcTxStyle b="off" i="off"/>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cBdr>
      </a:tcStyle>
    </a:band1V>
    <a:band2V>
      <a:tcTxStyle b="off" i="off"/>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5"/>
              </a:solidFill>
              <a:prstDash val="solid"/>
              <a:round/>
              <a:headEnd len="sm" w="sm" type="none"/>
              <a:tailEnd len="sm" w="sm" type="none"/>
            </a:ln>
          </a:top>
        </a:tcBdr>
      </a:tcStyle>
    </a:lastRow>
    <a:seCell>
      <a:tcTxStyle b="off" i="off"/>
    </a:seCell>
    <a:swCell>
      <a:tcTxStyle b="off" i="off"/>
    </a:swCell>
    <a:firstRow>
      <a:tcTxStyle b="on" i="off">
        <a:font>
          <a:latin typeface="Calibri"/>
          <a:ea typeface="Calibri"/>
          <a:cs typeface="Calibri"/>
        </a:font>
        <a:schemeClr val="lt1"/>
      </a:tcTxStyle>
      <a:tcStyle>
        <a:fill>
          <a:solidFill>
            <a:schemeClr val="accent5"/>
          </a:solidFill>
        </a:fill>
      </a:tcStyle>
    </a:firstRow>
    <a:neCell>
      <a:tcTxStyle b="off" i="off"/>
    </a:neCell>
    <a:nwCell>
      <a:tcTxStyle b="off" i="off"/>
    </a:nwCell>
  </a:tblStyle>
  <a:tblStyle styleId="{C2E737D5-F394-492E-883B-1FE3AB924BF0}"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 name="Google Shape;8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75177310a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g3f75177310a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g3f75177310a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15" name="Shape 15"/>
        <p:cNvGrpSpPr/>
        <p:nvPr/>
      </p:nvGrpSpPr>
      <p:grpSpPr>
        <a:xfrm>
          <a:off x="0" y="0"/>
          <a:ext cx="0" cy="0"/>
          <a:chOff x="0" y="0"/>
          <a:chExt cx="0" cy="0"/>
        </a:xfrm>
      </p:grpSpPr>
      <p:sp>
        <p:nvSpPr>
          <p:cNvPr id="16" name="Google Shape;1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1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22" name="Shape 22"/>
        <p:cNvGrpSpPr/>
        <p:nvPr/>
      </p:nvGrpSpPr>
      <p:grpSpPr>
        <a:xfrm>
          <a:off x="0" y="0"/>
          <a:ext cx="0" cy="0"/>
          <a:chOff x="0" y="0"/>
          <a:chExt cx="0" cy="0"/>
        </a:xfrm>
      </p:grpSpPr>
      <p:sp>
        <p:nvSpPr>
          <p:cNvPr id="23" name="Google Shape;23;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15"/>
          <p:cNvSpPr/>
          <p:nvPr/>
        </p:nvSpPr>
        <p:spPr>
          <a:xfrm>
            <a:off x="87228" y="60325"/>
            <a:ext cx="1532022" cy="620712"/>
          </a:xfrm>
          <a:prstGeom prst="rect">
            <a:avLst/>
          </a:prstGeom>
          <a:blipFill rotWithShape="1">
            <a:blip r:embed="rId2">
              <a:alphaModFix amt="78101"/>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9" name="Shape 29"/>
        <p:cNvGrpSpPr/>
        <p:nvPr/>
      </p:nvGrpSpPr>
      <p:grpSpPr>
        <a:xfrm>
          <a:off x="0" y="0"/>
          <a:ext cx="0" cy="0"/>
          <a:chOff x="0" y="0"/>
          <a:chExt cx="0" cy="0"/>
        </a:xfrm>
      </p:grpSpPr>
      <p:sp>
        <p:nvSpPr>
          <p:cNvPr id="30" name="Google Shape;30;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spTree>
      <p:nvGrpSpPr>
        <p:cNvPr id="35" name="Shape 35"/>
        <p:cNvGrpSpPr/>
        <p:nvPr/>
      </p:nvGrpSpPr>
      <p:grpSpPr>
        <a:xfrm>
          <a:off x="0" y="0"/>
          <a:ext cx="0" cy="0"/>
          <a:chOff x="0" y="0"/>
          <a:chExt cx="0" cy="0"/>
        </a:xfrm>
      </p:grpSpPr>
      <p:sp>
        <p:nvSpPr>
          <p:cNvPr id="36" name="Google Shape;36;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8" name="Google Shape;3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41" name="Shape 41"/>
        <p:cNvGrpSpPr/>
        <p:nvPr/>
      </p:nvGrpSpPr>
      <p:grpSpPr>
        <a:xfrm>
          <a:off x="0" y="0"/>
          <a:ext cx="0" cy="0"/>
          <a:chOff x="0" y="0"/>
          <a:chExt cx="0" cy="0"/>
        </a:xfrm>
      </p:grpSpPr>
      <p:sp>
        <p:nvSpPr>
          <p:cNvPr id="42" name="Google Shape;42;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50" name="Shape 50"/>
        <p:cNvGrpSpPr/>
        <p:nvPr/>
      </p:nvGrpSpPr>
      <p:grpSpPr>
        <a:xfrm>
          <a:off x="0" y="0"/>
          <a:ext cx="0" cy="0"/>
          <a:chOff x="0" y="0"/>
          <a:chExt cx="0" cy="0"/>
        </a:xfrm>
      </p:grpSpPr>
      <p:sp>
        <p:nvSpPr>
          <p:cNvPr id="51" name="Google Shape;51;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5" name="Shape 55"/>
        <p:cNvGrpSpPr/>
        <p:nvPr/>
      </p:nvGrpSpPr>
      <p:grpSpPr>
        <a:xfrm>
          <a:off x="0" y="0"/>
          <a:ext cx="0" cy="0"/>
          <a:chOff x="0" y="0"/>
          <a:chExt cx="0" cy="0"/>
        </a:xfrm>
      </p:grpSpPr>
      <p:sp>
        <p:nvSpPr>
          <p:cNvPr id="56" name="Google Shape;56;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59" name="Shape 59"/>
        <p:cNvGrpSpPr/>
        <p:nvPr/>
      </p:nvGrpSpPr>
      <p:grpSpPr>
        <a:xfrm>
          <a:off x="0" y="0"/>
          <a:ext cx="0" cy="0"/>
          <a:chOff x="0" y="0"/>
          <a:chExt cx="0" cy="0"/>
        </a:xfrm>
      </p:grpSpPr>
      <p:sp>
        <p:nvSpPr>
          <p:cNvPr id="60" name="Google Shape;60;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66" name="Shape 66"/>
        <p:cNvGrpSpPr/>
        <p:nvPr/>
      </p:nvGrpSpPr>
      <p:grpSpPr>
        <a:xfrm>
          <a:off x="0" y="0"/>
          <a:ext cx="0" cy="0"/>
          <a:chOff x="0" y="0"/>
          <a:chExt cx="0" cy="0"/>
        </a:xfrm>
      </p:grpSpPr>
      <p:sp>
        <p:nvSpPr>
          <p:cNvPr id="67" name="Google Shape;67;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2"/>
          <p:cNvSpPr/>
          <p:nvPr>
            <p:ph idx="2" type="pic"/>
          </p:nvPr>
        </p:nvSpPr>
        <p:spPr>
          <a:xfrm>
            <a:off x="5183188" y="987425"/>
            <a:ext cx="6172200" cy="4873625"/>
          </a:xfrm>
          <a:prstGeom prst="rect">
            <a:avLst/>
          </a:prstGeom>
          <a:noFill/>
          <a:ln>
            <a:noFill/>
          </a:ln>
        </p:spPr>
      </p:sp>
      <p:sp>
        <p:nvSpPr>
          <p:cNvPr id="69" name="Google Shape;69;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type="vertTx">
  <p:cSld name="VERTICAL_TEXT">
    <p:spTree>
      <p:nvGrpSpPr>
        <p:cNvPr id="73" name="Shape 73"/>
        <p:cNvGrpSpPr/>
        <p:nvPr/>
      </p:nvGrpSpPr>
      <p:grpSpPr>
        <a:xfrm>
          <a:off x="0" y="0"/>
          <a:ext cx="0" cy="0"/>
          <a:chOff x="0" y="0"/>
          <a:chExt cx="0" cy="0"/>
        </a:xfrm>
      </p:grpSpPr>
      <p:sp>
        <p:nvSpPr>
          <p:cNvPr id="74" name="Google Shape;74;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79" name="Shape 79"/>
        <p:cNvGrpSpPr/>
        <p:nvPr/>
      </p:nvGrpSpPr>
      <p:grpSpPr>
        <a:xfrm>
          <a:off x="0" y="0"/>
          <a:ext cx="0" cy="0"/>
          <a:chOff x="0" y="0"/>
          <a:chExt cx="0" cy="0"/>
        </a:xfrm>
      </p:grpSpPr>
      <p:sp>
        <p:nvSpPr>
          <p:cNvPr id="80" name="Google Shape;80;p2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9" name="Shape 89"/>
        <p:cNvGrpSpPr/>
        <p:nvPr/>
      </p:nvGrpSpPr>
      <p:grpSpPr>
        <a:xfrm>
          <a:off x="0" y="0"/>
          <a:ext cx="0" cy="0"/>
          <a:chOff x="0" y="0"/>
          <a:chExt cx="0" cy="0"/>
        </a:xfrm>
      </p:grpSpPr>
      <p:sp>
        <p:nvSpPr>
          <p:cNvPr id="90" name="Google Shape;90;p1"/>
          <p:cNvSpPr txBox="1"/>
          <p:nvPr>
            <p:ph type="title"/>
          </p:nvPr>
        </p:nvSpPr>
        <p:spPr>
          <a:xfrm>
            <a:off x="961417" y="300399"/>
            <a:ext cx="10392300" cy="7767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2400"/>
              <a:buFont typeface="Calibri"/>
              <a:buNone/>
            </a:pPr>
            <a:br>
              <a:rPr b="1" lang="en-US" sz="2400"/>
            </a:br>
            <a:r>
              <a:rPr b="1" lang="en-US" sz="2400"/>
              <a:t>1</a:t>
            </a:r>
            <a:r>
              <a:rPr b="1" baseline="30000" lang="en-US" sz="2400"/>
              <a:t>st</a:t>
            </a:r>
            <a:r>
              <a:rPr b="1" lang="en-US" sz="2400"/>
              <a:t>  REVIEW</a:t>
            </a:r>
            <a:br>
              <a:rPr lang="en-US" sz="2400">
                <a:latin typeface="Calibri"/>
                <a:ea typeface="Calibri"/>
                <a:cs typeface="Calibri"/>
                <a:sym typeface="Calibri"/>
              </a:rPr>
            </a:br>
            <a:br>
              <a:rPr lang="en-US" sz="2400">
                <a:solidFill>
                  <a:srgbClr val="FF0000"/>
                </a:solidFill>
                <a:latin typeface="Calibri"/>
                <a:ea typeface="Calibri"/>
                <a:cs typeface="Calibri"/>
                <a:sym typeface="Calibri"/>
              </a:rPr>
            </a:br>
            <a:r>
              <a:rPr b="1" lang="en-US" sz="2400">
                <a:solidFill>
                  <a:srgbClr val="011893"/>
                </a:solidFill>
              </a:rPr>
              <a:t>Food Donation &amp; NGO Connect App </a:t>
            </a:r>
            <a:endParaRPr b="1" sz="2400">
              <a:solidFill>
                <a:srgbClr val="011893"/>
              </a:solidFill>
              <a:latin typeface="Calibri"/>
              <a:ea typeface="Calibri"/>
              <a:cs typeface="Calibri"/>
              <a:sym typeface="Calibri"/>
            </a:endParaRPr>
          </a:p>
        </p:txBody>
      </p:sp>
      <p:sp>
        <p:nvSpPr>
          <p:cNvPr id="91" name="Google Shape;91;p1"/>
          <p:cNvSpPr txBox="1"/>
          <p:nvPr/>
        </p:nvSpPr>
        <p:spPr>
          <a:xfrm>
            <a:off x="961417" y="5032000"/>
            <a:ext cx="10506600" cy="1380900"/>
          </a:xfrm>
          <a:prstGeom prst="rect">
            <a:avLst/>
          </a:prstGeom>
          <a:noFill/>
          <a:ln>
            <a:noFill/>
          </a:ln>
        </p:spPr>
        <p:txBody>
          <a:bodyPr anchorCtr="0" anchor="t" bIns="45700" lIns="91425" spcFirstLastPara="1" rIns="91425" wrap="square" tIns="45700">
            <a:normAutofit lnSpcReduction="10000"/>
          </a:bodyPr>
          <a:lstStyle/>
          <a:p>
            <a:pPr indent="0" lvl="0" marL="0" marR="0" rtl="0" algn="ctr">
              <a:lnSpc>
                <a:spcPct val="90000"/>
              </a:lnSpc>
              <a:spcBef>
                <a:spcPts val="0"/>
              </a:spcBef>
              <a:spcAft>
                <a:spcPts val="0"/>
              </a:spcAft>
              <a:buClr>
                <a:schemeClr val="dk1"/>
              </a:buClr>
              <a:buSzPts val="1800"/>
              <a:buFont typeface="Arial"/>
              <a:buNone/>
            </a:pPr>
            <a:r>
              <a:t/>
            </a:r>
            <a:endParaRPr b="1" i="0" sz="1800" u="none" cap="none" strike="noStrike">
              <a:solidFill>
                <a:srgbClr val="C00000"/>
              </a:solidFill>
              <a:latin typeface="Calibri"/>
              <a:ea typeface="Calibri"/>
              <a:cs typeface="Calibri"/>
              <a:sym typeface="Calibri"/>
            </a:endParaRPr>
          </a:p>
          <a:p>
            <a:pPr indent="0" lvl="0" marL="0" marR="0" rtl="0" algn="ctr">
              <a:lnSpc>
                <a:spcPct val="90000"/>
              </a:lnSpc>
              <a:spcBef>
                <a:spcPts val="1000"/>
              </a:spcBef>
              <a:spcAft>
                <a:spcPts val="0"/>
              </a:spcAft>
              <a:buClr>
                <a:schemeClr val="dk1"/>
              </a:buClr>
              <a:buSzPts val="1800"/>
              <a:buFont typeface="Arial"/>
              <a:buNone/>
            </a:pPr>
            <a:r>
              <a:t/>
            </a:r>
            <a:endParaRPr b="1" i="0" sz="1800" u="none" cap="none" strike="noStrike">
              <a:solidFill>
                <a:srgbClr val="C00000"/>
              </a:solidFill>
              <a:latin typeface="Calibri"/>
              <a:ea typeface="Calibri"/>
              <a:cs typeface="Calibri"/>
              <a:sym typeface="Calibri"/>
            </a:endParaRPr>
          </a:p>
          <a:p>
            <a:pPr indent="0" lvl="0" marL="0" marR="0" rtl="0" algn="ctr">
              <a:lnSpc>
                <a:spcPct val="90000"/>
              </a:lnSpc>
              <a:spcBef>
                <a:spcPts val="1000"/>
              </a:spcBef>
              <a:spcAft>
                <a:spcPts val="0"/>
              </a:spcAft>
              <a:buClr>
                <a:schemeClr val="dk1"/>
              </a:buClr>
              <a:buSzPts val="1800"/>
              <a:buFont typeface="Arial"/>
              <a:buNone/>
            </a:pPr>
            <a:r>
              <a:t/>
            </a:r>
            <a:endParaRPr b="1" i="0" sz="1800" u="none" cap="none" strike="noStrike">
              <a:solidFill>
                <a:srgbClr val="C00000"/>
              </a:solidFill>
              <a:latin typeface="Calibri"/>
              <a:ea typeface="Calibri"/>
              <a:cs typeface="Calibri"/>
              <a:sym typeface="Calibri"/>
            </a:endParaRPr>
          </a:p>
          <a:p>
            <a:pPr indent="0" lvl="0" marL="0" marR="0" rtl="0" algn="ctr">
              <a:lnSpc>
                <a:spcPct val="90000"/>
              </a:lnSpc>
              <a:spcBef>
                <a:spcPts val="1000"/>
              </a:spcBef>
              <a:spcAft>
                <a:spcPts val="0"/>
              </a:spcAft>
              <a:buClr>
                <a:srgbClr val="C00000"/>
              </a:buClr>
              <a:buSzPts val="1800"/>
              <a:buFont typeface="Arial"/>
              <a:buNone/>
            </a:pPr>
            <a:r>
              <a:rPr b="1" i="0" lang="en-US" sz="1800" u="none" cap="none" strike="noStrike">
                <a:solidFill>
                  <a:srgbClr val="C00000"/>
                </a:solidFill>
                <a:latin typeface="Calibri"/>
                <a:ea typeface="Calibri"/>
                <a:cs typeface="Calibri"/>
                <a:sym typeface="Calibri"/>
              </a:rPr>
              <a:t>KONERU LAKSHMAIAH EDUCATION FOUNDATION</a:t>
            </a:r>
            <a:endParaRPr b="0" i="0" sz="1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800"/>
              <a:buFont typeface="Arial"/>
              <a:buNone/>
            </a:pPr>
            <a:r>
              <a:t/>
            </a:r>
            <a:endParaRPr b="1" i="0" sz="1800" u="none" cap="none" strike="noStrike">
              <a:solidFill>
                <a:srgbClr val="0070C0"/>
              </a:solidFill>
              <a:latin typeface="Calibri"/>
              <a:ea typeface="Calibri"/>
              <a:cs typeface="Calibri"/>
              <a:sym typeface="Calibri"/>
            </a:endParaRPr>
          </a:p>
        </p:txBody>
      </p:sp>
      <p:sp>
        <p:nvSpPr>
          <p:cNvPr id="92" name="Google Shape;92;p1"/>
          <p:cNvSpPr txBox="1"/>
          <p:nvPr/>
        </p:nvSpPr>
        <p:spPr>
          <a:xfrm>
            <a:off x="952500" y="3143780"/>
            <a:ext cx="10515600" cy="1806300"/>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ctr">
              <a:lnSpc>
                <a:spcPct val="90000"/>
              </a:lnSpc>
              <a:spcBef>
                <a:spcPts val="0"/>
              </a:spcBef>
              <a:spcAft>
                <a:spcPts val="0"/>
              </a:spcAft>
              <a:buClr>
                <a:schemeClr val="dk1"/>
              </a:buClr>
              <a:buSzPct val="100000"/>
              <a:buFont typeface="Arial"/>
              <a:buNone/>
            </a:pPr>
            <a:r>
              <a:rPr b="0" i="0" lang="en-US" sz="2400" u="none" cap="none" strike="noStrike">
                <a:solidFill>
                  <a:schemeClr val="dk1"/>
                </a:solidFill>
                <a:latin typeface="Calibri"/>
                <a:ea typeface="Calibri"/>
                <a:cs typeface="Calibri"/>
                <a:sym typeface="Calibri"/>
              </a:rPr>
              <a:t>Under the Guidance </a:t>
            </a:r>
            <a:endParaRPr b="0" i="0" sz="1800" u="none" cap="none" strike="noStrike">
              <a:solidFill>
                <a:schemeClr val="dk1"/>
              </a:solidFill>
              <a:latin typeface="Calibri"/>
              <a:ea typeface="Calibri"/>
              <a:cs typeface="Calibri"/>
              <a:sym typeface="Calibri"/>
            </a:endParaRPr>
          </a:p>
          <a:p>
            <a:pPr indent="0" lvl="0" marL="0" marR="0" rtl="0" algn="ctr">
              <a:lnSpc>
                <a:spcPct val="90000"/>
              </a:lnSpc>
              <a:spcBef>
                <a:spcPts val="1000"/>
              </a:spcBef>
              <a:spcAft>
                <a:spcPts val="0"/>
              </a:spcAft>
              <a:buClr>
                <a:schemeClr val="dk1"/>
              </a:buClr>
              <a:buSzPct val="100000"/>
              <a:buFont typeface="Arial"/>
              <a:buNone/>
            </a:pPr>
            <a:r>
              <a:rPr b="0" i="0" lang="en-US" sz="2400" u="none" cap="none" strike="noStrike">
                <a:solidFill>
                  <a:schemeClr val="dk1"/>
                </a:solidFill>
                <a:latin typeface="Calibri"/>
                <a:ea typeface="Calibri"/>
                <a:cs typeface="Calibri"/>
                <a:sym typeface="Calibri"/>
              </a:rPr>
              <a:t>of </a:t>
            </a:r>
            <a:endParaRPr b="0" i="0" sz="2400" u="none" cap="none" strike="noStrike">
              <a:solidFill>
                <a:srgbClr val="00B050"/>
              </a:solidFill>
              <a:latin typeface="Calibri"/>
              <a:ea typeface="Calibri"/>
              <a:cs typeface="Calibri"/>
              <a:sym typeface="Calibri"/>
            </a:endParaRPr>
          </a:p>
          <a:p>
            <a:pPr indent="0" lvl="0" marL="0" marR="0" rtl="0" algn="ctr">
              <a:lnSpc>
                <a:spcPct val="90000"/>
              </a:lnSpc>
              <a:spcBef>
                <a:spcPts val="1000"/>
              </a:spcBef>
              <a:spcAft>
                <a:spcPts val="0"/>
              </a:spcAft>
              <a:buClr>
                <a:srgbClr val="00B050"/>
              </a:buClr>
              <a:buSzPct val="100000"/>
              <a:buFont typeface="Arial"/>
              <a:buNone/>
            </a:pPr>
            <a:r>
              <a:rPr b="0" i="0" lang="en-US" sz="2400" u="none" cap="none" strike="noStrike">
                <a:solidFill>
                  <a:srgbClr val="00B050"/>
                </a:solidFill>
                <a:latin typeface="Calibri"/>
                <a:ea typeface="Calibri"/>
                <a:cs typeface="Calibri"/>
                <a:sym typeface="Calibri"/>
              </a:rPr>
              <a:t>Dr.Spandana</a:t>
            </a:r>
            <a:endParaRPr b="0" i="0" sz="2400" u="none" cap="none" strike="noStrike">
              <a:solidFill>
                <a:srgbClr val="00B050"/>
              </a:solidFill>
              <a:latin typeface="Calibri"/>
              <a:ea typeface="Calibri"/>
              <a:cs typeface="Calibri"/>
              <a:sym typeface="Calibri"/>
            </a:endParaRPr>
          </a:p>
          <a:p>
            <a:pPr indent="0" lvl="0" marL="0" marR="0" rtl="0" algn="ctr">
              <a:lnSpc>
                <a:spcPct val="90000"/>
              </a:lnSpc>
              <a:spcBef>
                <a:spcPts val="1000"/>
              </a:spcBef>
              <a:spcAft>
                <a:spcPts val="0"/>
              </a:spcAft>
              <a:buClr>
                <a:srgbClr val="00B050"/>
              </a:buClr>
              <a:buSzPct val="100000"/>
              <a:buFont typeface="Arial"/>
              <a:buNone/>
            </a:pPr>
            <a:r>
              <a:rPr b="0" i="0" lang="en-US" sz="2400" u="none" cap="none" strike="noStrike">
                <a:solidFill>
                  <a:srgbClr val="00B050"/>
                </a:solidFill>
                <a:latin typeface="Calibri"/>
                <a:ea typeface="Calibri"/>
                <a:cs typeface="Calibri"/>
                <a:sym typeface="Calibri"/>
              </a:rPr>
              <a:t>Assistant Professor</a:t>
            </a:r>
            <a:endParaRPr b="0" i="0" sz="1800" u="none" cap="none" strike="noStrike">
              <a:solidFill>
                <a:schemeClr val="dk1"/>
              </a:solidFill>
              <a:latin typeface="Calibri"/>
              <a:ea typeface="Calibri"/>
              <a:cs typeface="Calibri"/>
              <a:sym typeface="Calibri"/>
            </a:endParaRPr>
          </a:p>
          <a:p>
            <a:pPr indent="0" lvl="0" marL="0" marR="0" rtl="0" algn="ctr">
              <a:lnSpc>
                <a:spcPct val="90000"/>
              </a:lnSpc>
              <a:spcBef>
                <a:spcPts val="1000"/>
              </a:spcBef>
              <a:spcAft>
                <a:spcPts val="0"/>
              </a:spcAft>
              <a:buClr>
                <a:srgbClr val="00B050"/>
              </a:buClr>
              <a:buSzPct val="100000"/>
              <a:buFont typeface="Arial"/>
              <a:buNone/>
            </a:pPr>
            <a:r>
              <a:rPr b="0" i="0" lang="en-US" sz="2400" u="none" cap="none" strike="noStrike">
                <a:solidFill>
                  <a:srgbClr val="00B050"/>
                </a:solidFill>
                <a:latin typeface="Calibri"/>
                <a:ea typeface="Calibri"/>
                <a:cs typeface="Calibri"/>
                <a:sym typeface="Calibri"/>
              </a:rPr>
              <a:t>Department of Computer Science and Engineering </a:t>
            </a:r>
            <a:endParaRPr b="0" i="0" sz="1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ct val="100000"/>
              <a:buFont typeface="Arial"/>
              <a:buNone/>
            </a:pPr>
            <a:r>
              <a:t/>
            </a:r>
            <a:endParaRPr b="0" i="0" sz="2400" u="none" cap="none" strike="noStrike">
              <a:solidFill>
                <a:srgbClr val="00B050"/>
              </a:solidFill>
              <a:latin typeface="Calibri"/>
              <a:ea typeface="Calibri"/>
              <a:cs typeface="Calibri"/>
              <a:sym typeface="Calibri"/>
            </a:endParaRPr>
          </a:p>
        </p:txBody>
      </p:sp>
      <p:sp>
        <p:nvSpPr>
          <p:cNvPr id="93" name="Google Shape;93;p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1200"/>
              <a:buFont typeface="Calibri"/>
              <a:buNone/>
            </a:pPr>
            <a:r>
              <a:rPr lang="en-US">
                <a:solidFill>
                  <a:schemeClr val="lt1"/>
                </a:solidFill>
              </a:rPr>
              <a:t>0th REVIEW           </a:t>
            </a:r>
            <a:endParaRPr/>
          </a:p>
        </p:txBody>
      </p:sp>
      <p:sp>
        <p:nvSpPr>
          <p:cNvPr id="94" name="Google Shape;94;p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pic>
        <p:nvPicPr>
          <p:cNvPr id="95" name="Google Shape;95;p1"/>
          <p:cNvPicPr preferRelativeResize="0"/>
          <p:nvPr/>
        </p:nvPicPr>
        <p:blipFill rotWithShape="1">
          <a:blip r:embed="rId3">
            <a:alphaModFix/>
          </a:blip>
          <a:srcRect b="0" l="0" r="0" t="0"/>
          <a:stretch/>
        </p:blipFill>
        <p:spPr>
          <a:xfrm>
            <a:off x="5056040" y="4860024"/>
            <a:ext cx="2618924" cy="1243012"/>
          </a:xfrm>
          <a:prstGeom prst="rect">
            <a:avLst/>
          </a:prstGeom>
          <a:noFill/>
          <a:ln>
            <a:noFill/>
          </a:ln>
        </p:spPr>
      </p:pic>
      <p:graphicFrame>
        <p:nvGraphicFramePr>
          <p:cNvPr id="96" name="Google Shape;96;p1"/>
          <p:cNvGraphicFramePr/>
          <p:nvPr/>
        </p:nvGraphicFramePr>
        <p:xfrm>
          <a:off x="2032000" y="1680962"/>
          <a:ext cx="3000000" cy="3000000"/>
        </p:xfrm>
        <a:graphic>
          <a:graphicData uri="http://schemas.openxmlformats.org/drawingml/2006/table">
            <a:tbl>
              <a:tblPr bandRow="1" firstRow="1">
                <a:noFill/>
                <a:tableStyleId>{7F635001-5755-4E3A-B308-4EEC7132579B}</a:tableStyleId>
              </a:tblPr>
              <a:tblGrid>
                <a:gridCol w="4064000"/>
                <a:gridCol w="4064000"/>
              </a:tblGrid>
              <a:tr h="370850">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Fathima Qhibtiya Khader</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2520030155</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P</a:t>
                      </a:r>
                      <a:r>
                        <a:rPr lang="en-US" sz="1800"/>
                        <a:t>ranav Varma</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2520030351</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T.S.S.S.Ananya</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2520030039</a:t>
                      </a:r>
                      <a:endParaRPr sz="1800" u="none" cap="none" strike="noStrike"/>
                    </a:p>
                  </a:txBody>
                  <a:tcPr marT="45725" marB="45725" marR="91450" marL="91450"/>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txBox="1"/>
          <p:nvPr>
            <p:ph type="title"/>
          </p:nvPr>
        </p:nvSpPr>
        <p:spPr>
          <a:xfrm>
            <a:off x="1424484" y="374681"/>
            <a:ext cx="9343030" cy="72669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3200"/>
              <a:buFont typeface="Calibri"/>
              <a:buNone/>
            </a:pPr>
            <a:r>
              <a:rPr b="1" lang="en-US" sz="3200">
                <a:solidFill>
                  <a:srgbClr val="0070C0"/>
                </a:solidFill>
              </a:rPr>
              <a:t>GROUP NUMBER:11</a:t>
            </a:r>
            <a:endParaRPr b="1" sz="3200">
              <a:solidFill>
                <a:srgbClr val="0070C0"/>
              </a:solidFill>
            </a:endParaRPr>
          </a:p>
        </p:txBody>
      </p:sp>
      <p:sp>
        <p:nvSpPr>
          <p:cNvPr id="103" name="Google Shape;10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         </a:t>
            </a:r>
            <a:endParaRPr/>
          </a:p>
        </p:txBody>
      </p:sp>
      <p:sp>
        <p:nvSpPr>
          <p:cNvPr id="104" name="Google Shape;10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aphicFrame>
        <p:nvGraphicFramePr>
          <p:cNvPr id="105" name="Google Shape;105;p2"/>
          <p:cNvGraphicFramePr/>
          <p:nvPr/>
        </p:nvGraphicFramePr>
        <p:xfrm>
          <a:off x="838199" y="1416193"/>
          <a:ext cx="3000000" cy="3000000"/>
        </p:xfrm>
        <a:graphic>
          <a:graphicData uri="http://schemas.openxmlformats.org/drawingml/2006/table">
            <a:tbl>
              <a:tblPr bandRow="1" firstRow="1">
                <a:noFill/>
                <a:tableStyleId>{F3C4331B-FEF9-421A-AFFD-7D67219054B6}</a:tableStyleId>
              </a:tblPr>
              <a:tblGrid>
                <a:gridCol w="5257800"/>
                <a:gridCol w="5257800"/>
              </a:tblGrid>
              <a:tr h="4184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Name of Candidate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t>Role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29850">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Fathima Qhibtiya Khader</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29850">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T.S.S.S.Ananya</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29850">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P</a:t>
                      </a:r>
                      <a:r>
                        <a:rPr lang="en-US" sz="1800"/>
                        <a:t>ranav Varma</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b="0"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298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b="0"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29850">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b="0" sz="1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3200"/>
              <a:buFont typeface="Calibri"/>
              <a:buNone/>
            </a:pPr>
            <a:r>
              <a:rPr b="1" lang="en-US" sz="3200">
                <a:solidFill>
                  <a:srgbClr val="0070C0"/>
                </a:solidFill>
              </a:rPr>
              <a:t>ABSTRACT</a:t>
            </a:r>
            <a:endParaRPr/>
          </a:p>
        </p:txBody>
      </p:sp>
      <p:sp>
        <p:nvSpPr>
          <p:cNvPr id="112" name="Google Shape;112;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         </a:t>
            </a:r>
            <a:endParaRPr/>
          </a:p>
        </p:txBody>
      </p:sp>
      <p:sp>
        <p:nvSpPr>
          <p:cNvPr id="113" name="Google Shape;113;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4" name="Google Shape;114;p3"/>
          <p:cNvSpPr txBox="1"/>
          <p:nvPr>
            <p:ph idx="1" type="body"/>
          </p:nvPr>
        </p:nvSpPr>
        <p:spPr>
          <a:xfrm>
            <a:off x="838200" y="1825625"/>
            <a:ext cx="10515600" cy="4351200"/>
          </a:xfrm>
          <a:prstGeom prst="rect">
            <a:avLst/>
          </a:prstGeom>
          <a:noFill/>
          <a:ln>
            <a:noFill/>
          </a:ln>
        </p:spPr>
        <p:txBody>
          <a:bodyPr anchorCtr="0" anchor="t" bIns="54850" lIns="91425" spcFirstLastPara="1" rIns="91425" wrap="square" tIns="73150">
            <a:normAutofit fontScale="77500"/>
          </a:bodyPr>
          <a:lstStyle/>
          <a:p>
            <a:pPr indent="0" lvl="0" marL="0" rtl="0" algn="l">
              <a:lnSpc>
                <a:spcPct val="150000"/>
              </a:lnSpc>
              <a:spcBef>
                <a:spcPts val="0"/>
              </a:spcBef>
              <a:spcAft>
                <a:spcPts val="0"/>
              </a:spcAft>
              <a:buClr>
                <a:schemeClr val="dk1"/>
              </a:buClr>
              <a:buSzPct val="105376"/>
              <a:buNone/>
            </a:pPr>
            <a:r>
              <a:rPr lang="en-US" sz="1860"/>
              <a:t>Large quantities of surplus food from restaurants and households go to waste every day, even as many people  in the same neighbourhoods face food insecurity. A major barrier is the lack of a simple, trusted channel connecting willing donors with verified NGOs that can collect and redistribute this food quickly and safely. The Food Donation &amp; NGO Connect App addresses this gap by providing a mobile platform, built on Android using Kotlin, that links restaurants and households with nearby NGOs for surplus food pickup. Donors can list available food items along with quantity, type, and pickup window through a simple Donor Listing feature. NGOs undergo an NGO Registration &amp; Verification process to ensure only credible organizations participate, building trust within the platform. Once a donation is listed, the app uses Geo Matching, powered by the Google Maps SDK, to identify and notify the nearest verified NGOs, while a Pickup Scheduling module allows both parties to coordinate convenient collection times. A Notification Engine, implemented using Firebase Cloud Messaging (FCM), keeps donors and NGOs updated in real time on listing status, matches, and scheduling changes. All donation records are stored and managed using Firebase, ensuring reliable, real-time synchronization across users. Finally, an Impact Dashboard visualizes key metrics such as total food saved, number of successful pickups, and NGOs served, motivating continued participation. By streamlining the donation process end-to-end, the app aims to reduce food wastage, support NGOs with consistent food supply, and strengthen community-level food security.</a:t>
            </a:r>
            <a:endParaRPr sz="186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3200"/>
              <a:buFont typeface="Calibri"/>
              <a:buNone/>
            </a:pPr>
            <a:r>
              <a:rPr b="1" lang="en-US" sz="3200">
                <a:solidFill>
                  <a:srgbClr val="0070C0"/>
                </a:solidFill>
              </a:rPr>
              <a:t>INTRODUCTION</a:t>
            </a:r>
            <a:endParaRPr sz="3200">
              <a:solidFill>
                <a:srgbClr val="0070C0"/>
              </a:solidFill>
            </a:endParaRPr>
          </a:p>
        </p:txBody>
      </p:sp>
      <p:sp>
        <p:nvSpPr>
          <p:cNvPr id="121" name="Google Shape;12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         </a:t>
            </a:r>
            <a:endParaRPr/>
          </a:p>
        </p:txBody>
      </p:sp>
      <p:sp>
        <p:nvSpPr>
          <p:cNvPr id="122" name="Google Shape;12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23" name="Google Shape;12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700"/>
              <a:buChar char="•"/>
            </a:pPr>
            <a:r>
              <a:rPr lang="en-US" sz="1700"/>
              <a:t>Large amounts of edible surplus food from restaurants, catering events, and households are discarded daily, even as many people in the same neighbourhoods face food insecurity.</a:t>
            </a:r>
            <a:endParaRPr/>
          </a:p>
          <a:p>
            <a:pPr indent="-342900" lvl="0" marL="457200" rtl="0" algn="l">
              <a:lnSpc>
                <a:spcPct val="90000"/>
              </a:lnSpc>
              <a:spcBef>
                <a:spcPts val="1000"/>
              </a:spcBef>
              <a:spcAft>
                <a:spcPts val="0"/>
              </a:spcAft>
              <a:buSzPts val="1700"/>
              <a:buChar char="•"/>
            </a:pPr>
            <a:r>
              <a:rPr lang="en-US" sz="1700"/>
              <a:t>NGOs working on food redistribution usually depend on phone calls, social media groups, or word of mouth to learn about available donations, which is slow and unreliable.</a:t>
            </a:r>
            <a:endParaRPr/>
          </a:p>
          <a:p>
            <a:pPr indent="-342900" lvl="0" marL="457200" rtl="0" algn="l">
              <a:lnSpc>
                <a:spcPct val="90000"/>
              </a:lnSpc>
              <a:spcBef>
                <a:spcPts val="1000"/>
              </a:spcBef>
              <a:spcAft>
                <a:spcPts val="0"/>
              </a:spcAft>
              <a:buSzPts val="1700"/>
              <a:buChar char="•"/>
            </a:pPr>
            <a:r>
              <a:rPr lang="en-US" sz="1700"/>
              <a:t>This gap between food that would otherwise be wasted and organisations willing to redistribute it calls for a simple, trusted digital channel between donors and NGOs.</a:t>
            </a:r>
            <a:endParaRPr/>
          </a:p>
          <a:p>
            <a:pPr indent="-342900" lvl="0" marL="457200" rtl="0" algn="l">
              <a:lnSpc>
                <a:spcPct val="90000"/>
              </a:lnSpc>
              <a:spcBef>
                <a:spcPts val="1000"/>
              </a:spcBef>
              <a:spcAft>
                <a:spcPts val="0"/>
              </a:spcAft>
              <a:buSzPts val="1700"/>
              <a:buChar char="•"/>
            </a:pPr>
            <a:r>
              <a:rPr lang="en-US" sz="1700"/>
              <a:t>The Food Donation &amp; NGO Connect App is a mobile platform built on Android using Kotlin that links restaurants and households with nearby verified NGOs for surplus food pickup.</a:t>
            </a:r>
            <a:endParaRPr/>
          </a:p>
          <a:p>
            <a:pPr indent="-342900" lvl="0" marL="457200" rtl="0" algn="l">
              <a:lnSpc>
                <a:spcPct val="90000"/>
              </a:lnSpc>
              <a:spcBef>
                <a:spcPts val="1000"/>
              </a:spcBef>
              <a:spcAft>
                <a:spcPts val="0"/>
              </a:spcAft>
              <a:buSzPts val="1700"/>
              <a:buChar char="•"/>
            </a:pPr>
            <a:r>
              <a:rPr lang="en-US" sz="1700"/>
              <a:t>The app combines donor listings, NGO verification, geo-matching, scheduling, and real-time notifications to make the donation process fast, transparent, and trustworthy.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3200"/>
              <a:buFont typeface="Calibri"/>
              <a:buNone/>
            </a:pPr>
            <a:r>
              <a:rPr b="1" lang="en-US" sz="3200">
                <a:solidFill>
                  <a:srgbClr val="0070C0"/>
                </a:solidFill>
              </a:rPr>
              <a:t>EXISTING SYSTEM</a:t>
            </a:r>
            <a:endParaRPr sz="3200">
              <a:solidFill>
                <a:srgbClr val="0070C0"/>
              </a:solidFill>
            </a:endParaRPr>
          </a:p>
        </p:txBody>
      </p:sp>
      <p:sp>
        <p:nvSpPr>
          <p:cNvPr id="130" name="Google Shape;130;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         </a:t>
            </a:r>
            <a:endParaRPr/>
          </a:p>
        </p:txBody>
      </p:sp>
      <p:sp>
        <p:nvSpPr>
          <p:cNvPr id="131" name="Google Shape;131;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2" name="Google Shape;132;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700"/>
              <a:buChar char="•"/>
            </a:pPr>
            <a:r>
              <a:rPr lang="en-US" sz="1700"/>
              <a:t>Food donation today largely relies on manual coordination — donors calling or messaging known NGO contacts individually with no structured process.</a:t>
            </a:r>
            <a:endParaRPr/>
          </a:p>
          <a:p>
            <a:pPr indent="-342900" lvl="0" marL="457200" rtl="0" algn="l">
              <a:lnSpc>
                <a:spcPct val="90000"/>
              </a:lnSpc>
              <a:spcBef>
                <a:spcPts val="1000"/>
              </a:spcBef>
              <a:spcAft>
                <a:spcPts val="0"/>
              </a:spcAft>
              <a:buSzPts val="1700"/>
              <a:buChar char="•"/>
            </a:pPr>
            <a:r>
              <a:rPr lang="en-US" sz="1700"/>
              <a:t>General-purpose food delivery and e-commerce apps are not designed for donation logistics, verification, or time-sensitive pickup coordination.</a:t>
            </a:r>
            <a:endParaRPr/>
          </a:p>
          <a:p>
            <a:pPr indent="-342900" lvl="0" marL="457200" rtl="0" algn="l">
              <a:lnSpc>
                <a:spcPct val="90000"/>
              </a:lnSpc>
              <a:spcBef>
                <a:spcPts val="1000"/>
              </a:spcBef>
              <a:spcAft>
                <a:spcPts val="0"/>
              </a:spcAft>
              <a:buSzPts val="1700"/>
              <a:buChar char="•"/>
            </a:pPr>
            <a:r>
              <a:rPr lang="en-US" sz="1700"/>
              <a:t>Some community WhatsApp/social media groups share donation information informally, with no verification of NGO credibility or guarantee of a timely response.</a:t>
            </a:r>
            <a:endParaRPr/>
          </a:p>
          <a:p>
            <a:pPr indent="-342900" lvl="0" marL="457200" rtl="0" algn="l">
              <a:lnSpc>
                <a:spcPct val="90000"/>
              </a:lnSpc>
              <a:spcBef>
                <a:spcPts val="1000"/>
              </a:spcBef>
              <a:spcAft>
                <a:spcPts val="0"/>
              </a:spcAft>
              <a:buSzPts val="1700"/>
              <a:buChar char="•"/>
            </a:pPr>
            <a:r>
              <a:rPr lang="en-US" sz="1700"/>
              <a:t>There is no centralised system to match a donation with the nearest available NGO, so pickups are often delayed and food spoils before collection.</a:t>
            </a:r>
            <a:endParaRPr/>
          </a:p>
          <a:p>
            <a:pPr indent="-342900" lvl="0" marL="457200" rtl="0" algn="l">
              <a:lnSpc>
                <a:spcPct val="90000"/>
              </a:lnSpc>
              <a:spcBef>
                <a:spcPts val="1000"/>
              </a:spcBef>
              <a:spcAft>
                <a:spcPts val="0"/>
              </a:spcAft>
              <a:buSzPts val="1700"/>
              <a:buChar char="•"/>
            </a:pPr>
            <a:r>
              <a:rPr lang="en-US" sz="1700"/>
              <a:t>Existing approaches offer no visibility into how much food is actually saved, no accountability, and do not scale beyond a small, personally known network.</a:t>
            </a:r>
            <a:endParaRPr sz="1700"/>
          </a:p>
          <a:p>
            <a:pPr indent="-342900" lvl="0" marL="457200" rtl="0" algn="l">
              <a:lnSpc>
                <a:spcPct val="90000"/>
              </a:lnSpc>
              <a:spcBef>
                <a:spcPts val="1000"/>
              </a:spcBef>
              <a:spcAft>
                <a:spcPts val="0"/>
              </a:spcAft>
              <a:buSzPts val="1700"/>
              <a:buChar char="•"/>
            </a:pPr>
            <a:r>
              <a:rPr lang="en-US" sz="1700"/>
              <a:t>EXISTING APPLICATIONS : </a:t>
            </a:r>
            <a:r>
              <a:rPr lang="en-US" sz="1700"/>
              <a:t>ShareTheMea</a:t>
            </a:r>
            <a:r>
              <a:rPr lang="en-US" sz="1700"/>
              <a:t>l ,Careit , Food Rescue US , Karnaa</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3200"/>
              <a:buFont typeface="Calibri"/>
              <a:buNone/>
            </a:pPr>
            <a:r>
              <a:rPr b="1" lang="en-US" sz="3200">
                <a:solidFill>
                  <a:srgbClr val="0070C0"/>
                </a:solidFill>
              </a:rPr>
              <a:t>PROBLEM</a:t>
            </a:r>
            <a:endParaRPr sz="3200">
              <a:solidFill>
                <a:srgbClr val="0070C0"/>
              </a:solidFill>
            </a:endParaRPr>
          </a:p>
        </p:txBody>
      </p:sp>
      <p:sp>
        <p:nvSpPr>
          <p:cNvPr id="139" name="Google Shape;1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0" name="Google Shape;140;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700"/>
              <a:buChar char="•"/>
            </a:pPr>
            <a:r>
              <a:rPr lang="en-US" sz="1700"/>
              <a:t>Donors lack a quick, reliable way to find a nearby NGO that can collect surplus food within its safe pickup window, so usable food is often thrown away.</a:t>
            </a:r>
            <a:endParaRPr/>
          </a:p>
          <a:p>
            <a:pPr indent="-342900" lvl="0" marL="457200" rtl="0" algn="l">
              <a:lnSpc>
                <a:spcPct val="90000"/>
              </a:lnSpc>
              <a:spcBef>
                <a:spcPts val="1000"/>
              </a:spcBef>
              <a:spcAft>
                <a:spcPts val="0"/>
              </a:spcAft>
              <a:buSzPts val="1700"/>
              <a:buChar char="•"/>
            </a:pPr>
            <a:r>
              <a:rPr lang="en-US" sz="1700"/>
              <a:t>NGOs have no real-time visibility into when and where new donations become available, causing them to miss opportunities to collect food.</a:t>
            </a:r>
            <a:endParaRPr/>
          </a:p>
          <a:p>
            <a:pPr indent="-342900" lvl="0" marL="457200" rtl="0" algn="l">
              <a:lnSpc>
                <a:spcPct val="90000"/>
              </a:lnSpc>
              <a:spcBef>
                <a:spcPts val="1000"/>
              </a:spcBef>
              <a:spcAft>
                <a:spcPts val="0"/>
              </a:spcAft>
              <a:buSzPts val="1700"/>
              <a:buChar char="•"/>
            </a:pPr>
            <a:r>
              <a:rPr lang="en-US" sz="1700"/>
              <a:t>There is no verification mechanism to confirm that an NGO receiving a donation is genuine and credible, which discourages some donors from participating.</a:t>
            </a:r>
            <a:endParaRPr/>
          </a:p>
          <a:p>
            <a:pPr indent="-342900" lvl="0" marL="457200" rtl="0" algn="l">
              <a:lnSpc>
                <a:spcPct val="90000"/>
              </a:lnSpc>
              <a:spcBef>
                <a:spcPts val="1000"/>
              </a:spcBef>
              <a:spcAft>
                <a:spcPts val="0"/>
              </a:spcAft>
              <a:buSzPts val="1700"/>
              <a:buChar char="•"/>
            </a:pPr>
            <a:r>
              <a:rPr lang="en-US" sz="1700"/>
              <a:t>Coordinating pickup time and location manually is inefficient and error-prone, leading to missed collections and wasted effort on both sides.</a:t>
            </a:r>
            <a:endParaRPr/>
          </a:p>
          <a:p>
            <a:pPr indent="-342900" lvl="0" marL="457200" rtl="0" algn="l">
              <a:lnSpc>
                <a:spcPct val="90000"/>
              </a:lnSpc>
              <a:spcBef>
                <a:spcPts val="1000"/>
              </a:spcBef>
              <a:spcAft>
                <a:spcPts val="0"/>
              </a:spcAft>
              <a:buSzPts val="1700"/>
              <a:buChar char="•"/>
            </a:pPr>
            <a:r>
              <a:rPr lang="en-US" sz="1700"/>
              <a:t>Without visibility into the impact of their contributions, donors and NGOs have little motivation to stay engaged with the process over time.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3200"/>
              <a:buFont typeface="Calibri"/>
              <a:buNone/>
            </a:pPr>
            <a:r>
              <a:rPr b="1" lang="en-US" sz="3200">
                <a:solidFill>
                  <a:srgbClr val="0070C0"/>
                </a:solidFill>
              </a:rPr>
              <a:t>SOLUTION(Contribution)</a:t>
            </a:r>
            <a:endParaRPr sz="3200">
              <a:solidFill>
                <a:srgbClr val="0070C0"/>
              </a:solidFill>
            </a:endParaRPr>
          </a:p>
        </p:txBody>
      </p:sp>
      <p:sp>
        <p:nvSpPr>
          <p:cNvPr id="147" name="Google Shape;147;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8" name="Google Shape;148;p7"/>
          <p:cNvSpPr txBox="1"/>
          <p:nvPr>
            <p:ph idx="1" type="body"/>
          </p:nvPr>
        </p:nvSpPr>
        <p:spPr>
          <a:xfrm>
            <a:off x="838200" y="1847850"/>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None/>
            </a:pPr>
            <a:r>
              <a:rPr lang="en-US" sz="1700"/>
              <a:t>An Android mobile application, built using Kotlin, that streamlines the entire donation lifecycle — listing, verification, matching, scheduling, notification, and tracking — in one platform.</a:t>
            </a:r>
            <a:endParaRPr/>
          </a:p>
          <a:p>
            <a:pPr indent="-342900" lvl="0" marL="457200" rtl="0" algn="l">
              <a:lnSpc>
                <a:spcPct val="90000"/>
              </a:lnSpc>
              <a:spcBef>
                <a:spcPts val="1000"/>
              </a:spcBef>
              <a:spcAft>
                <a:spcPts val="0"/>
              </a:spcAft>
              <a:buSzPts val="1700"/>
              <a:buChar char="•"/>
            </a:pPr>
            <a:r>
              <a:rPr b="1" lang="en-US" sz="1700"/>
              <a:t>Donor Listing: </a:t>
            </a:r>
            <a:r>
              <a:rPr lang="en-US" sz="1700"/>
              <a:t>a simple interface for donors to list available food items along with quantity, type, and pickup window.</a:t>
            </a:r>
            <a:endParaRPr/>
          </a:p>
          <a:p>
            <a:pPr indent="-342900" lvl="0" marL="457200" rtl="0" algn="l">
              <a:lnSpc>
                <a:spcPct val="90000"/>
              </a:lnSpc>
              <a:spcBef>
                <a:spcPts val="1000"/>
              </a:spcBef>
              <a:spcAft>
                <a:spcPts val="0"/>
              </a:spcAft>
              <a:buSzPts val="1700"/>
              <a:buChar char="•"/>
            </a:pPr>
            <a:r>
              <a:rPr b="1" lang="en-US" sz="1700"/>
              <a:t>NGO Registration &amp; Verification: </a:t>
            </a:r>
            <a:r>
              <a:rPr lang="en-US" sz="1700"/>
              <a:t>ensures only credible, verified organisations can participate, building trust in the platform.</a:t>
            </a:r>
            <a:endParaRPr/>
          </a:p>
          <a:p>
            <a:pPr indent="-342900" lvl="0" marL="457200" rtl="0" algn="l">
              <a:lnSpc>
                <a:spcPct val="90000"/>
              </a:lnSpc>
              <a:spcBef>
                <a:spcPts val="1000"/>
              </a:spcBef>
              <a:spcAft>
                <a:spcPts val="0"/>
              </a:spcAft>
              <a:buSzPts val="1700"/>
              <a:buChar char="•"/>
            </a:pPr>
            <a:r>
              <a:rPr b="1" lang="en-US" sz="1700"/>
              <a:t>Geo Matching: </a:t>
            </a:r>
            <a:r>
              <a:rPr lang="en-US" sz="1700"/>
              <a:t>uses the Google Maps SDK to automatically identify and notify the nearest verified NGOs once a donation is listed.</a:t>
            </a:r>
            <a:endParaRPr/>
          </a:p>
          <a:p>
            <a:pPr indent="-342900" lvl="0" marL="457200" rtl="0" algn="l">
              <a:lnSpc>
                <a:spcPct val="90000"/>
              </a:lnSpc>
              <a:spcBef>
                <a:spcPts val="1000"/>
              </a:spcBef>
              <a:spcAft>
                <a:spcPts val="0"/>
              </a:spcAft>
              <a:buSzPts val="1700"/>
              <a:buChar char="•"/>
            </a:pPr>
            <a:r>
              <a:rPr b="1" lang="en-US" sz="1700"/>
              <a:t>Pickup Scheduling: </a:t>
            </a:r>
            <a:r>
              <a:rPr lang="en-US" sz="1700"/>
              <a:t>allows donors and NGOs to coordinate a convenient collection time and place.</a:t>
            </a:r>
            <a:endParaRPr/>
          </a:p>
          <a:p>
            <a:pPr indent="-342900" lvl="0" marL="457200" rtl="0" algn="l">
              <a:lnSpc>
                <a:spcPct val="90000"/>
              </a:lnSpc>
              <a:spcBef>
                <a:spcPts val="1000"/>
              </a:spcBef>
              <a:spcAft>
                <a:spcPts val="0"/>
              </a:spcAft>
              <a:buSzPts val="1700"/>
              <a:buChar char="•"/>
            </a:pPr>
            <a:r>
              <a:rPr b="1" lang="en-US" sz="1700"/>
              <a:t>Notification Engine: </a:t>
            </a:r>
            <a:r>
              <a:rPr lang="en-US" sz="1700"/>
              <a:t>built with Firebase Cloud Messaging (FCM) to keep both parties updated in real time on status, matches, and schedule changes.</a:t>
            </a:r>
            <a:endParaRPr/>
          </a:p>
          <a:p>
            <a:pPr indent="-342900" lvl="0" marL="457200" rtl="0" algn="l">
              <a:lnSpc>
                <a:spcPct val="90000"/>
              </a:lnSpc>
              <a:spcBef>
                <a:spcPts val="1000"/>
              </a:spcBef>
              <a:spcAft>
                <a:spcPts val="0"/>
              </a:spcAft>
              <a:buSzPts val="1700"/>
              <a:buChar char="•"/>
            </a:pPr>
            <a:r>
              <a:rPr b="1" lang="en-US" sz="1700"/>
              <a:t>Impact Dashboard: </a:t>
            </a:r>
            <a:r>
              <a:rPr lang="en-US" sz="1700"/>
              <a:t>visualises key metrics such as total food saved, successful pickups, and NGOs served to motivate continued participation.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3600"/>
              <a:buFont typeface="Calibri"/>
              <a:buNone/>
            </a:pPr>
            <a:r>
              <a:rPr b="1" lang="en-US" sz="3600">
                <a:solidFill>
                  <a:srgbClr val="0070C0"/>
                </a:solidFill>
              </a:rPr>
              <a:t>Objectives </a:t>
            </a:r>
            <a:endParaRPr sz="3600">
              <a:solidFill>
                <a:srgbClr val="0070C0"/>
              </a:solidFill>
            </a:endParaRPr>
          </a:p>
        </p:txBody>
      </p:sp>
      <p:sp>
        <p:nvSpPr>
          <p:cNvPr id="155" name="Google Shape;155;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         </a:t>
            </a:r>
            <a:endParaRPr/>
          </a:p>
        </p:txBody>
      </p:sp>
      <p:sp>
        <p:nvSpPr>
          <p:cNvPr id="156" name="Google Shape;156;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57" name="Google Shape;157;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700"/>
              <a:buChar char="•"/>
            </a:pPr>
            <a:r>
              <a:rPr lang="en-US" sz="1700"/>
              <a:t>To design and develop an Android application that connects surplus food donors with verified NGOs in real time.</a:t>
            </a:r>
            <a:endParaRPr/>
          </a:p>
          <a:p>
            <a:pPr indent="-342900" lvl="0" marL="457200" rtl="0" algn="l">
              <a:lnSpc>
                <a:spcPct val="90000"/>
              </a:lnSpc>
              <a:spcBef>
                <a:spcPts val="1000"/>
              </a:spcBef>
              <a:spcAft>
                <a:spcPts val="0"/>
              </a:spcAft>
              <a:buSzPts val="1700"/>
              <a:buChar char="•"/>
            </a:pPr>
            <a:r>
              <a:rPr lang="en-US" sz="1700"/>
              <a:t>To implement a simple Donor Listing feature for capturing food type, quantity, and pickup window.</a:t>
            </a:r>
            <a:endParaRPr/>
          </a:p>
          <a:p>
            <a:pPr indent="-342900" lvl="0" marL="457200" rtl="0" algn="l">
              <a:lnSpc>
                <a:spcPct val="90000"/>
              </a:lnSpc>
              <a:spcBef>
                <a:spcPts val="1000"/>
              </a:spcBef>
              <a:spcAft>
                <a:spcPts val="0"/>
              </a:spcAft>
              <a:buSzPts val="1700"/>
              <a:buChar char="•"/>
            </a:pPr>
            <a:r>
              <a:rPr lang="en-US" sz="1700"/>
              <a:t>To build an NGO Registration &amp; Verification workflow that ensures only credible organisations participate.</a:t>
            </a:r>
            <a:endParaRPr/>
          </a:p>
          <a:p>
            <a:pPr indent="-342900" lvl="0" marL="457200" rtl="0" algn="l">
              <a:lnSpc>
                <a:spcPct val="90000"/>
              </a:lnSpc>
              <a:spcBef>
                <a:spcPts val="1000"/>
              </a:spcBef>
              <a:spcAft>
                <a:spcPts val="0"/>
              </a:spcAft>
              <a:buSzPts val="1700"/>
              <a:buChar char="•"/>
            </a:pPr>
            <a:r>
              <a:rPr lang="en-US" sz="1700"/>
              <a:t>To implement Geo Matching using the Google Maps SDK for identifying and notifying the nearest available NGOs.</a:t>
            </a:r>
            <a:endParaRPr/>
          </a:p>
          <a:p>
            <a:pPr indent="-342900" lvl="0" marL="457200" rtl="0" algn="l">
              <a:lnSpc>
                <a:spcPct val="90000"/>
              </a:lnSpc>
              <a:spcBef>
                <a:spcPts val="1000"/>
              </a:spcBef>
              <a:spcAft>
                <a:spcPts val="0"/>
              </a:spcAft>
              <a:buSzPts val="1700"/>
              <a:buChar char="•"/>
            </a:pPr>
            <a:r>
              <a:rPr lang="en-US" sz="1700"/>
              <a:t>To enable Pickup Scheduling so donors and NGOs can coordinate convenient collection times.</a:t>
            </a:r>
            <a:endParaRPr/>
          </a:p>
          <a:p>
            <a:pPr indent="-342900" lvl="0" marL="457200" rtl="0" algn="l">
              <a:lnSpc>
                <a:spcPct val="90000"/>
              </a:lnSpc>
              <a:spcBef>
                <a:spcPts val="1000"/>
              </a:spcBef>
              <a:spcAft>
                <a:spcPts val="0"/>
              </a:spcAft>
              <a:buSzPts val="1700"/>
              <a:buChar char="•"/>
            </a:pPr>
            <a:r>
              <a:rPr lang="en-US" sz="1700"/>
              <a:t>To set up a real-time Notification Engine using Firebase Cloud Messaging (FCM) for status and schedule updates.</a:t>
            </a:r>
            <a:endParaRPr/>
          </a:p>
          <a:p>
            <a:pPr indent="-342900" lvl="0" marL="457200" rtl="0" algn="l">
              <a:lnSpc>
                <a:spcPct val="90000"/>
              </a:lnSpc>
              <a:spcBef>
                <a:spcPts val="1000"/>
              </a:spcBef>
              <a:spcAft>
                <a:spcPts val="0"/>
              </a:spcAft>
              <a:buSzPts val="1700"/>
              <a:buChar char="•"/>
            </a:pPr>
            <a:r>
              <a:rPr lang="en-US" sz="1700"/>
              <a:t>To provide an Impact Dashboard that visualises food saved, pickups completed, and NGOs served.</a:t>
            </a:r>
            <a:endParaRPr/>
          </a:p>
          <a:p>
            <a:pPr indent="-342900" lvl="0" marL="457200" rtl="0" algn="l">
              <a:lnSpc>
                <a:spcPct val="90000"/>
              </a:lnSpc>
              <a:spcBef>
                <a:spcPts val="1000"/>
              </a:spcBef>
              <a:spcAft>
                <a:spcPts val="0"/>
              </a:spcAft>
              <a:buSzPts val="1700"/>
              <a:buChar char="•"/>
            </a:pPr>
            <a:r>
              <a:rPr lang="en-US" sz="1700"/>
              <a:t>To reduce urban food wastage, support NGOs with a consistent food supply, and strengthen community-level food security.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3600"/>
              <a:buFont typeface="Calibri"/>
              <a:buNone/>
            </a:pPr>
            <a:r>
              <a:rPr b="1" lang="en-US" sz="3600">
                <a:solidFill>
                  <a:srgbClr val="0070C0"/>
                </a:solidFill>
              </a:rPr>
              <a:t>Modules</a:t>
            </a:r>
            <a:endParaRPr sz="3600">
              <a:solidFill>
                <a:srgbClr val="0070C0"/>
              </a:solidFill>
            </a:endParaRPr>
          </a:p>
        </p:txBody>
      </p:sp>
      <p:sp>
        <p:nvSpPr>
          <p:cNvPr id="164" name="Google Shape;164;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         </a:t>
            </a:r>
            <a:endParaRPr/>
          </a:p>
        </p:txBody>
      </p:sp>
      <p:sp>
        <p:nvSpPr>
          <p:cNvPr id="165" name="Google Shape;165;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6" name="Google Shape;166;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700"/>
              <a:buChar char="•"/>
            </a:pPr>
            <a:r>
              <a:rPr b="1" lang="en-US" sz="1700"/>
              <a:t>1. Donor Listing Module: </a:t>
            </a:r>
            <a:r>
              <a:rPr lang="en-US" sz="1700"/>
              <a:t>lets restaurants and households list surplus food with quantity, type, and pickup window.</a:t>
            </a:r>
            <a:endParaRPr/>
          </a:p>
          <a:p>
            <a:pPr indent="-342900" lvl="0" marL="457200" rtl="0" algn="l">
              <a:lnSpc>
                <a:spcPct val="90000"/>
              </a:lnSpc>
              <a:spcBef>
                <a:spcPts val="1000"/>
              </a:spcBef>
              <a:spcAft>
                <a:spcPts val="0"/>
              </a:spcAft>
              <a:buSzPts val="1700"/>
              <a:buChar char="•"/>
            </a:pPr>
            <a:r>
              <a:rPr b="1" lang="en-US" sz="1700"/>
              <a:t>2. NGO Registration &amp; Verification Module: </a:t>
            </a:r>
            <a:r>
              <a:rPr lang="en-US" sz="1700"/>
              <a:t>onboards NGOs and validates their credentials before granting platform access.</a:t>
            </a:r>
            <a:endParaRPr/>
          </a:p>
          <a:p>
            <a:pPr indent="-342900" lvl="0" marL="457200" rtl="0" algn="l">
              <a:lnSpc>
                <a:spcPct val="90000"/>
              </a:lnSpc>
              <a:spcBef>
                <a:spcPts val="1000"/>
              </a:spcBef>
              <a:spcAft>
                <a:spcPts val="0"/>
              </a:spcAft>
              <a:buSzPts val="1700"/>
              <a:buChar char="•"/>
            </a:pPr>
            <a:r>
              <a:rPr b="1" lang="en-US" sz="1700"/>
              <a:t>3. Geo Matching Module: </a:t>
            </a:r>
            <a:r>
              <a:rPr lang="en-US" sz="1700"/>
              <a:t>uses the Google Maps SDK to locate and notify the nearest verified NGOs for each new listing.</a:t>
            </a:r>
            <a:endParaRPr/>
          </a:p>
          <a:p>
            <a:pPr indent="-342900" lvl="0" marL="457200" rtl="0" algn="l">
              <a:lnSpc>
                <a:spcPct val="90000"/>
              </a:lnSpc>
              <a:spcBef>
                <a:spcPts val="1000"/>
              </a:spcBef>
              <a:spcAft>
                <a:spcPts val="0"/>
              </a:spcAft>
              <a:buSzPts val="1700"/>
              <a:buChar char="•"/>
            </a:pPr>
            <a:r>
              <a:rPr b="1" lang="en-US" sz="1700"/>
              <a:t>4. Pickup Scheduling Module: </a:t>
            </a:r>
            <a:r>
              <a:rPr lang="en-US" sz="1700"/>
              <a:t>coordinates collection date, time, and location between donors and NGOs.</a:t>
            </a:r>
            <a:endParaRPr/>
          </a:p>
          <a:p>
            <a:pPr indent="-342900" lvl="0" marL="457200" rtl="0" algn="l">
              <a:lnSpc>
                <a:spcPct val="90000"/>
              </a:lnSpc>
              <a:spcBef>
                <a:spcPts val="1000"/>
              </a:spcBef>
              <a:spcAft>
                <a:spcPts val="0"/>
              </a:spcAft>
              <a:buSzPts val="1700"/>
              <a:buChar char="•"/>
            </a:pPr>
            <a:r>
              <a:rPr b="1" lang="en-US" sz="1700"/>
              <a:t>5. Notification Engine: </a:t>
            </a:r>
            <a:r>
              <a:rPr lang="en-US" sz="1700"/>
              <a:t>sends real-time alerts via Firebase Cloud Messaging (FCM) for listings, matches, and schedule changes.</a:t>
            </a:r>
            <a:endParaRPr/>
          </a:p>
          <a:p>
            <a:pPr indent="-342900" lvl="0" marL="457200" rtl="0" algn="l">
              <a:lnSpc>
                <a:spcPct val="90000"/>
              </a:lnSpc>
              <a:spcBef>
                <a:spcPts val="1000"/>
              </a:spcBef>
              <a:spcAft>
                <a:spcPts val="0"/>
              </a:spcAft>
              <a:buSzPts val="1700"/>
              <a:buChar char="•"/>
            </a:pPr>
            <a:r>
              <a:rPr b="1" lang="en-US" sz="1700"/>
              <a:t>6. Data Management Module: </a:t>
            </a:r>
            <a:r>
              <a:rPr lang="en-US" sz="1700"/>
              <a:t>stores and synchronises all donation records in real time using Firebase.</a:t>
            </a:r>
            <a:endParaRPr/>
          </a:p>
          <a:p>
            <a:pPr indent="-342900" lvl="0" marL="457200" rtl="0" algn="l">
              <a:lnSpc>
                <a:spcPct val="90000"/>
              </a:lnSpc>
              <a:spcBef>
                <a:spcPts val="1000"/>
              </a:spcBef>
              <a:spcAft>
                <a:spcPts val="0"/>
              </a:spcAft>
              <a:buSzPts val="1700"/>
              <a:buChar char="•"/>
            </a:pPr>
            <a:r>
              <a:rPr b="1" lang="en-US" sz="1700"/>
              <a:t>7. Impact Dashboard Module: </a:t>
            </a:r>
            <a:r>
              <a:rPr lang="en-US" sz="1700"/>
              <a:t>visualises total food saved, successful pickups, and NGOs served.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f75177310a_0_1"/>
          <p:cNvSpPr txBox="1"/>
          <p:nvPr>
            <p:ph type="title"/>
          </p:nvPr>
        </p:nvSpPr>
        <p:spPr>
          <a:xfrm>
            <a:off x="838200" y="26987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3200"/>
              <a:buFont typeface="Calibri"/>
              <a:buNone/>
            </a:pPr>
            <a:r>
              <a:rPr b="1" lang="en-US" sz="3200">
                <a:solidFill>
                  <a:srgbClr val="0070C0"/>
                </a:solidFill>
              </a:rPr>
              <a:t>SOFTWARE REQUIREMENTS </a:t>
            </a:r>
            <a:endParaRPr sz="3200">
              <a:solidFill>
                <a:srgbClr val="0070C0"/>
              </a:solidFill>
            </a:endParaRPr>
          </a:p>
        </p:txBody>
      </p:sp>
      <p:sp>
        <p:nvSpPr>
          <p:cNvPr id="173" name="Google Shape;173;g3f75177310a_0_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         </a:t>
            </a:r>
            <a:endParaRPr/>
          </a:p>
        </p:txBody>
      </p:sp>
      <p:sp>
        <p:nvSpPr>
          <p:cNvPr id="174" name="Google Shape;174;g3f75177310a_0_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aphicFrame>
        <p:nvGraphicFramePr>
          <p:cNvPr id="175" name="Google Shape;175;g3f75177310a_0_1"/>
          <p:cNvGraphicFramePr/>
          <p:nvPr/>
        </p:nvGraphicFramePr>
        <p:xfrm>
          <a:off x="952500" y="1428925"/>
          <a:ext cx="3000000" cy="3000000"/>
        </p:xfrm>
        <a:graphic>
          <a:graphicData uri="http://schemas.openxmlformats.org/drawingml/2006/table">
            <a:tbl>
              <a:tblPr>
                <a:noFill/>
                <a:tableStyleId>{C2E737D5-F394-492E-883B-1FE3AB924BF0}</a:tableStyleId>
              </a:tblPr>
              <a:tblGrid>
                <a:gridCol w="5143500"/>
                <a:gridCol w="5143500"/>
              </a:tblGrid>
              <a:tr h="739475">
                <a:tc>
                  <a:txBody>
                    <a:bodyPr/>
                    <a:lstStyle/>
                    <a:p>
                      <a:pPr indent="-342900" lvl="0" marL="457200" rtl="0" algn="l">
                        <a:lnSpc>
                          <a:spcPct val="90000"/>
                        </a:lnSpc>
                        <a:spcBef>
                          <a:spcPts val="1000"/>
                        </a:spcBef>
                        <a:spcAft>
                          <a:spcPts val="0"/>
                        </a:spcAft>
                        <a:buClr>
                          <a:schemeClr val="dk1"/>
                        </a:buClr>
                        <a:buSzPts val="1700"/>
                        <a:buChar char="•"/>
                      </a:pPr>
                      <a:r>
                        <a:rPr b="1" lang="en-US" sz="1700">
                          <a:solidFill>
                            <a:schemeClr val="dk1"/>
                          </a:solidFill>
                          <a:latin typeface="Calibri"/>
                          <a:ea typeface="Calibri"/>
                          <a:cs typeface="Calibri"/>
                          <a:sym typeface="Calibri"/>
                        </a:rPr>
                        <a:t>Operating System</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38100">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342900" lvl="0" marL="457200" rtl="0" algn="l">
                        <a:lnSpc>
                          <a:spcPct val="90000"/>
                        </a:lnSpc>
                        <a:spcBef>
                          <a:spcPts val="1000"/>
                        </a:spcBef>
                        <a:spcAft>
                          <a:spcPts val="0"/>
                        </a:spcAft>
                        <a:buClr>
                          <a:schemeClr val="dk1"/>
                        </a:buClr>
                        <a:buSzPts val="1700"/>
                        <a:buChar char="•"/>
                      </a:pPr>
                      <a:r>
                        <a:rPr lang="en-US" sz="1700">
                          <a:solidFill>
                            <a:schemeClr val="dk1"/>
                          </a:solidFill>
                          <a:latin typeface="Calibri"/>
                          <a:ea typeface="Calibri"/>
                          <a:cs typeface="Calibri"/>
                          <a:sym typeface="Calibri"/>
                        </a:rPr>
                        <a:t>Windows / macOS / Linux for development; Android 8.0 (Oreo) and above for the target device.</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555750">
                <a:tc>
                  <a:txBody>
                    <a:bodyPr/>
                    <a:lstStyle/>
                    <a:p>
                      <a:pPr indent="-342900" lvl="0" marL="457200" rtl="0" algn="l">
                        <a:lnSpc>
                          <a:spcPct val="90000"/>
                        </a:lnSpc>
                        <a:spcBef>
                          <a:spcPts val="1000"/>
                        </a:spcBef>
                        <a:spcAft>
                          <a:spcPts val="0"/>
                        </a:spcAft>
                        <a:buClr>
                          <a:schemeClr val="dk1"/>
                        </a:buClr>
                        <a:buSzPts val="1700"/>
                        <a:buChar char="•"/>
                      </a:pPr>
                      <a:r>
                        <a:rPr b="1" lang="en-US" sz="1700">
                          <a:solidFill>
                            <a:schemeClr val="dk1"/>
                          </a:solidFill>
                          <a:latin typeface="Calibri"/>
                          <a:ea typeface="Calibri"/>
                          <a:cs typeface="Calibri"/>
                          <a:sym typeface="Calibri"/>
                        </a:rPr>
                        <a:t>IDE</a:t>
                      </a:r>
                      <a:endParaRPr/>
                    </a:p>
                  </a:txBody>
                  <a:tcPr marT="91425" marB="91425" marR="91425" marL="91425">
                    <a:lnT cap="flat" cmpd="sng" w="9525">
                      <a:solidFill>
                        <a:schemeClr val="accent1"/>
                      </a:solidFill>
                      <a:prstDash val="solid"/>
                      <a:round/>
                      <a:headEnd len="sm" w="sm" type="none"/>
                      <a:tailEnd len="sm" w="sm" type="none"/>
                    </a:lnT>
                  </a:tcPr>
                </a:tc>
                <a:tc>
                  <a:txBody>
                    <a:bodyPr/>
                    <a:lstStyle/>
                    <a:p>
                      <a:pPr indent="-342900" lvl="0" marL="457200" rtl="0" algn="l">
                        <a:lnSpc>
                          <a:spcPct val="90000"/>
                        </a:lnSpc>
                        <a:spcBef>
                          <a:spcPts val="1000"/>
                        </a:spcBef>
                        <a:spcAft>
                          <a:spcPts val="0"/>
                        </a:spcAft>
                        <a:buClr>
                          <a:schemeClr val="dk1"/>
                        </a:buClr>
                        <a:buSzPts val="1700"/>
                        <a:buChar char="•"/>
                      </a:pPr>
                      <a:r>
                        <a:rPr lang="en-US" sz="1700">
                          <a:solidFill>
                            <a:schemeClr val="dk1"/>
                          </a:solidFill>
                          <a:latin typeface="Calibri"/>
                          <a:ea typeface="Calibri"/>
                          <a:cs typeface="Calibri"/>
                          <a:sym typeface="Calibri"/>
                        </a:rPr>
                        <a:t>Android Studio.</a:t>
                      </a:r>
                      <a:endParaRPr/>
                    </a:p>
                  </a:txBody>
                  <a:tcPr marT="91425" marB="91425" marR="91425" marL="91425">
                    <a:lnT cap="flat" cmpd="sng" w="9525">
                      <a:solidFill>
                        <a:schemeClr val="accent1"/>
                      </a:solidFill>
                      <a:prstDash val="solid"/>
                      <a:round/>
                      <a:headEnd len="sm" w="sm" type="none"/>
                      <a:tailEnd len="sm" w="sm" type="none"/>
                    </a:lnT>
                  </a:tcPr>
                </a:tc>
              </a:tr>
              <a:tr h="579575">
                <a:tc>
                  <a:txBody>
                    <a:bodyPr/>
                    <a:lstStyle/>
                    <a:p>
                      <a:pPr indent="-342900" lvl="0" marL="457200" rtl="0" algn="l">
                        <a:lnSpc>
                          <a:spcPct val="90000"/>
                        </a:lnSpc>
                        <a:spcBef>
                          <a:spcPts val="1000"/>
                        </a:spcBef>
                        <a:spcAft>
                          <a:spcPts val="0"/>
                        </a:spcAft>
                        <a:buClr>
                          <a:schemeClr val="dk1"/>
                        </a:buClr>
                        <a:buSzPts val="1700"/>
                        <a:buChar char="•"/>
                      </a:pPr>
                      <a:r>
                        <a:rPr b="1" lang="en-US" sz="1700">
                          <a:solidFill>
                            <a:schemeClr val="dk1"/>
                          </a:solidFill>
                          <a:latin typeface="Calibri"/>
                          <a:ea typeface="Calibri"/>
                          <a:cs typeface="Calibri"/>
                          <a:sym typeface="Calibri"/>
                        </a:rPr>
                        <a:t>Programming Language</a:t>
                      </a:r>
                      <a:endParaRPr/>
                    </a:p>
                  </a:txBody>
                  <a:tcPr marT="91425" marB="91425" marR="91425" marL="91425"/>
                </a:tc>
                <a:tc>
                  <a:txBody>
                    <a:bodyPr/>
                    <a:lstStyle/>
                    <a:p>
                      <a:pPr indent="-342900" lvl="0" marL="457200" rtl="0" algn="l">
                        <a:lnSpc>
                          <a:spcPct val="90000"/>
                        </a:lnSpc>
                        <a:spcBef>
                          <a:spcPts val="1000"/>
                        </a:spcBef>
                        <a:spcAft>
                          <a:spcPts val="0"/>
                        </a:spcAft>
                        <a:buClr>
                          <a:schemeClr val="dk1"/>
                        </a:buClr>
                        <a:buSzPts val="1700"/>
                        <a:buChar char="•"/>
                      </a:pPr>
                      <a:r>
                        <a:rPr lang="en-US" sz="1700">
                          <a:solidFill>
                            <a:schemeClr val="dk1"/>
                          </a:solidFill>
                          <a:latin typeface="Calibri"/>
                          <a:ea typeface="Calibri"/>
                          <a:cs typeface="Calibri"/>
                          <a:sym typeface="Calibri"/>
                        </a:rPr>
                        <a:t>Kotlin</a:t>
                      </a:r>
                      <a:endParaRPr>
                        <a:solidFill>
                          <a:schemeClr val="dk1"/>
                        </a:solidFill>
                      </a:endParaRPr>
                    </a:p>
                    <a:p>
                      <a:pPr indent="0" lvl="0" marL="0" rtl="0" algn="l">
                        <a:spcBef>
                          <a:spcPts val="0"/>
                        </a:spcBef>
                        <a:spcAft>
                          <a:spcPts val="0"/>
                        </a:spcAft>
                        <a:buNone/>
                      </a:pPr>
                      <a:r>
                        <a:t/>
                      </a:r>
                      <a:endParaRPr/>
                    </a:p>
                  </a:txBody>
                  <a:tcPr marT="91425" marB="91425" marR="91425" marL="91425"/>
                </a:tc>
              </a:tr>
              <a:tr h="468100">
                <a:tc>
                  <a:txBody>
                    <a:bodyPr/>
                    <a:lstStyle/>
                    <a:p>
                      <a:pPr indent="-342900" lvl="0" marL="457200" rtl="0" algn="l">
                        <a:lnSpc>
                          <a:spcPct val="90000"/>
                        </a:lnSpc>
                        <a:spcBef>
                          <a:spcPts val="1000"/>
                        </a:spcBef>
                        <a:spcAft>
                          <a:spcPts val="0"/>
                        </a:spcAft>
                        <a:buClr>
                          <a:schemeClr val="dk1"/>
                        </a:buClr>
                        <a:buSzPts val="1700"/>
                        <a:buChar char="•"/>
                      </a:pPr>
                      <a:r>
                        <a:rPr b="1" lang="en-US" sz="1700">
                          <a:solidFill>
                            <a:schemeClr val="dk1"/>
                          </a:solidFill>
                          <a:latin typeface="Calibri"/>
                          <a:ea typeface="Calibri"/>
                          <a:cs typeface="Calibri"/>
                          <a:sym typeface="Calibri"/>
                        </a:rPr>
                        <a:t>Backend &amp; Database</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a:p>
                  </a:txBody>
                  <a:tcPr marT="91425" marB="91425" marR="91425" marL="91425"/>
                </a:tc>
                <a:tc>
                  <a:txBody>
                    <a:bodyPr/>
                    <a:lstStyle/>
                    <a:p>
                      <a:pPr indent="-342900" lvl="0" marL="457200" rtl="0" algn="l">
                        <a:lnSpc>
                          <a:spcPct val="90000"/>
                        </a:lnSpc>
                        <a:spcBef>
                          <a:spcPts val="1000"/>
                        </a:spcBef>
                        <a:spcAft>
                          <a:spcPts val="0"/>
                        </a:spcAft>
                        <a:buClr>
                          <a:schemeClr val="dk1"/>
                        </a:buClr>
                        <a:buSzPts val="1700"/>
                        <a:buChar char="•"/>
                      </a:pPr>
                      <a:r>
                        <a:rPr b="1" lang="en-US" sz="1700">
                          <a:solidFill>
                            <a:schemeClr val="dk1"/>
                          </a:solidFill>
                          <a:latin typeface="Calibri"/>
                          <a:ea typeface="Calibri"/>
                          <a:cs typeface="Calibri"/>
                          <a:sym typeface="Calibri"/>
                        </a:rPr>
                        <a:t> </a:t>
                      </a:r>
                      <a:r>
                        <a:rPr lang="en-US" sz="1700">
                          <a:solidFill>
                            <a:schemeClr val="dk1"/>
                          </a:solidFill>
                          <a:latin typeface="Calibri"/>
                          <a:ea typeface="Calibri"/>
                          <a:cs typeface="Calibri"/>
                          <a:sym typeface="Calibri"/>
                        </a:rPr>
                        <a:t>Firebase (Firestore / Realtime Database) for data storage and synchronisation.</a:t>
                      </a:r>
                      <a:endParaRPr/>
                    </a:p>
                  </a:txBody>
                  <a:tcPr marT="91425" marB="91425" marR="91425" marL="91425"/>
                </a:tc>
              </a:tr>
              <a:tr h="683000">
                <a:tc>
                  <a:txBody>
                    <a:bodyPr/>
                    <a:lstStyle/>
                    <a:p>
                      <a:pPr indent="-342900" lvl="0" marL="457200" rtl="0" algn="l">
                        <a:lnSpc>
                          <a:spcPct val="90000"/>
                        </a:lnSpc>
                        <a:spcBef>
                          <a:spcPts val="1000"/>
                        </a:spcBef>
                        <a:spcAft>
                          <a:spcPts val="0"/>
                        </a:spcAft>
                        <a:buClr>
                          <a:schemeClr val="dk1"/>
                        </a:buClr>
                        <a:buSzPts val="1700"/>
                        <a:buChar char="•"/>
                      </a:pPr>
                      <a:r>
                        <a:rPr b="1" lang="en-US" sz="1700">
                          <a:solidFill>
                            <a:schemeClr val="dk1"/>
                          </a:solidFill>
                          <a:latin typeface="Calibri"/>
                          <a:ea typeface="Calibri"/>
                          <a:cs typeface="Calibri"/>
                          <a:sym typeface="Calibri"/>
                        </a:rPr>
                        <a:t>Cloud Messaging: </a:t>
                      </a:r>
                      <a:endParaRPr/>
                    </a:p>
                  </a:txBody>
                  <a:tcPr marT="91425" marB="91425" marR="91425" marL="91425"/>
                </a:tc>
                <a:tc>
                  <a:txBody>
                    <a:bodyPr/>
                    <a:lstStyle/>
                    <a:p>
                      <a:pPr indent="-342900" lvl="0" marL="457200" rtl="0" algn="l">
                        <a:lnSpc>
                          <a:spcPct val="90000"/>
                        </a:lnSpc>
                        <a:spcBef>
                          <a:spcPts val="1000"/>
                        </a:spcBef>
                        <a:spcAft>
                          <a:spcPts val="0"/>
                        </a:spcAft>
                        <a:buClr>
                          <a:schemeClr val="dk1"/>
                        </a:buClr>
                        <a:buSzPts val="1700"/>
                        <a:buChar char="•"/>
                      </a:pPr>
                      <a:r>
                        <a:rPr lang="en-US" sz="1700">
                          <a:solidFill>
                            <a:schemeClr val="dk1"/>
                          </a:solidFill>
                          <a:latin typeface="Calibri"/>
                          <a:ea typeface="Calibri"/>
                          <a:cs typeface="Calibri"/>
                          <a:sym typeface="Calibri"/>
                        </a:rPr>
                        <a:t>Firebase Cloud Messaging (FCM) for real-time notifications.</a:t>
                      </a:r>
                      <a:endParaRPr/>
                    </a:p>
                  </a:txBody>
                  <a:tcPr marT="91425" marB="91425" marR="91425" marL="91425"/>
                </a:tc>
              </a:tr>
              <a:tr h="468100">
                <a:tc>
                  <a:txBody>
                    <a:bodyPr/>
                    <a:lstStyle/>
                    <a:p>
                      <a:pPr indent="-342900" lvl="0" marL="457200" rtl="0" algn="l">
                        <a:lnSpc>
                          <a:spcPct val="90000"/>
                        </a:lnSpc>
                        <a:spcBef>
                          <a:spcPts val="1000"/>
                        </a:spcBef>
                        <a:spcAft>
                          <a:spcPts val="0"/>
                        </a:spcAft>
                        <a:buClr>
                          <a:schemeClr val="dk1"/>
                        </a:buClr>
                        <a:buSzPts val="1700"/>
                        <a:buChar char="•"/>
                      </a:pPr>
                      <a:r>
                        <a:rPr b="1" lang="en-US" sz="1700">
                          <a:solidFill>
                            <a:schemeClr val="dk1"/>
                          </a:solidFill>
                          <a:latin typeface="Calibri"/>
                          <a:ea typeface="Calibri"/>
                          <a:cs typeface="Calibri"/>
                          <a:sym typeface="Calibri"/>
                        </a:rPr>
                        <a:t>Maps &amp; Location Services</a:t>
                      </a:r>
                      <a:endParaRPr/>
                    </a:p>
                  </a:txBody>
                  <a:tcPr marT="91425" marB="91425" marR="91425" marL="91425"/>
                </a:tc>
                <a:tc>
                  <a:txBody>
                    <a:bodyPr/>
                    <a:lstStyle/>
                    <a:p>
                      <a:pPr indent="-342900" lvl="0" marL="457200" rtl="0" algn="l">
                        <a:lnSpc>
                          <a:spcPct val="90000"/>
                        </a:lnSpc>
                        <a:spcBef>
                          <a:spcPts val="1000"/>
                        </a:spcBef>
                        <a:spcAft>
                          <a:spcPts val="0"/>
                        </a:spcAft>
                        <a:buClr>
                          <a:schemeClr val="dk1"/>
                        </a:buClr>
                        <a:buSzPts val="1700"/>
                        <a:buChar char="•"/>
                      </a:pPr>
                      <a:r>
                        <a:rPr lang="en-US" sz="1700">
                          <a:solidFill>
                            <a:schemeClr val="dk1"/>
                          </a:solidFill>
                          <a:latin typeface="Calibri"/>
                          <a:ea typeface="Calibri"/>
                          <a:cs typeface="Calibri"/>
                          <a:sym typeface="Calibri"/>
                        </a:rPr>
                        <a:t>Google Maps SDK for Android for geo-matching.</a:t>
                      </a:r>
                      <a:endParaRPr/>
                    </a:p>
                  </a:txBody>
                  <a:tcPr marT="91425" marB="91425" marR="91425" marL="91425"/>
                </a:tc>
              </a:tr>
              <a:tr h="468100">
                <a:tc>
                  <a:txBody>
                    <a:bodyPr/>
                    <a:lstStyle/>
                    <a:p>
                      <a:pPr indent="-342900" lvl="0" marL="457200" rtl="0" algn="l">
                        <a:lnSpc>
                          <a:spcPct val="90000"/>
                        </a:lnSpc>
                        <a:spcBef>
                          <a:spcPts val="1000"/>
                        </a:spcBef>
                        <a:spcAft>
                          <a:spcPts val="0"/>
                        </a:spcAft>
                        <a:buClr>
                          <a:schemeClr val="dk1"/>
                        </a:buClr>
                        <a:buSzPts val="1700"/>
                        <a:buChar char="•"/>
                      </a:pPr>
                      <a:r>
                        <a:rPr b="1" lang="en-US" sz="1700">
                          <a:solidFill>
                            <a:schemeClr val="dk1"/>
                          </a:solidFill>
                          <a:latin typeface="Calibri"/>
                          <a:ea typeface="Calibri"/>
                          <a:cs typeface="Calibri"/>
                          <a:sym typeface="Calibri"/>
                        </a:rPr>
                        <a:t>Version Control</a:t>
                      </a:r>
                      <a:endParaRPr/>
                    </a:p>
                  </a:txBody>
                  <a:tcPr marT="91425" marB="91425" marR="91425" marL="91425"/>
                </a:tc>
                <a:tc>
                  <a:txBody>
                    <a:bodyPr/>
                    <a:lstStyle/>
                    <a:p>
                      <a:pPr indent="-342900" lvl="0" marL="457200" rtl="0" algn="l">
                        <a:lnSpc>
                          <a:spcPct val="90000"/>
                        </a:lnSpc>
                        <a:spcBef>
                          <a:spcPts val="1000"/>
                        </a:spcBef>
                        <a:spcAft>
                          <a:spcPts val="0"/>
                        </a:spcAft>
                        <a:buClr>
                          <a:schemeClr val="dk1"/>
                        </a:buClr>
                        <a:buSzPts val="1700"/>
                        <a:buChar char="•"/>
                      </a:pPr>
                      <a:r>
                        <a:rPr lang="en-US" sz="1700">
                          <a:solidFill>
                            <a:schemeClr val="dk1"/>
                          </a:solidFill>
                          <a:latin typeface="Calibri"/>
                          <a:ea typeface="Calibri"/>
                          <a:cs typeface="Calibri"/>
                          <a:sym typeface="Calibri"/>
                        </a:rPr>
                        <a:t>Git and GitHub.</a:t>
                      </a:r>
                      <a:endParaRPr/>
                    </a:p>
                  </a:txBody>
                  <a:tcPr marT="91425" marB="91425" marR="91425" marL="91425"/>
                </a:tc>
              </a:tr>
              <a:tr h="100000">
                <a:tc>
                  <a:txBody>
                    <a:bodyPr/>
                    <a:lstStyle/>
                    <a:p>
                      <a:pPr indent="-342900" lvl="0" marL="457200" rtl="0" algn="l">
                        <a:lnSpc>
                          <a:spcPct val="90000"/>
                        </a:lnSpc>
                        <a:spcBef>
                          <a:spcPts val="1000"/>
                        </a:spcBef>
                        <a:spcAft>
                          <a:spcPts val="0"/>
                        </a:spcAft>
                        <a:buClr>
                          <a:schemeClr val="dk1"/>
                        </a:buClr>
                        <a:buSzPts val="1700"/>
                        <a:buChar char="•"/>
                      </a:pPr>
                      <a:r>
                        <a:rPr b="1" lang="en-US" sz="1700">
                          <a:solidFill>
                            <a:schemeClr val="dk1"/>
                          </a:solidFill>
                          <a:latin typeface="Calibri"/>
                          <a:ea typeface="Calibri"/>
                          <a:cs typeface="Calibri"/>
                          <a:sym typeface="Calibri"/>
                        </a:rPr>
                        <a:t>Design Tools</a:t>
                      </a:r>
                      <a:endParaRPr/>
                    </a:p>
                  </a:txBody>
                  <a:tcPr marT="91425" marB="91425" marR="91425" marL="91425"/>
                </a:tc>
                <a:tc>
                  <a:txBody>
                    <a:bodyPr/>
                    <a:lstStyle/>
                    <a:p>
                      <a:pPr indent="-342900" lvl="0" marL="457200" rtl="0" algn="l">
                        <a:lnSpc>
                          <a:spcPct val="90000"/>
                        </a:lnSpc>
                        <a:spcBef>
                          <a:spcPts val="1000"/>
                        </a:spcBef>
                        <a:spcAft>
                          <a:spcPts val="0"/>
                        </a:spcAft>
                        <a:buClr>
                          <a:schemeClr val="dk1"/>
                        </a:buClr>
                        <a:buSzPts val="1700"/>
                        <a:buChar char="•"/>
                      </a:pPr>
                      <a:r>
                        <a:rPr lang="en-US" sz="1700">
                          <a:solidFill>
                            <a:schemeClr val="dk1"/>
                          </a:solidFill>
                          <a:latin typeface="Calibri"/>
                          <a:ea typeface="Calibri"/>
                          <a:cs typeface="Calibri"/>
                          <a:sym typeface="Calibri"/>
                        </a:rPr>
                        <a:t>Figma for UI/UX prototyping.</a:t>
                      </a:r>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1"/>
          <p:cNvSpPr txBox="1"/>
          <p:nvPr>
            <p:ph type="title"/>
          </p:nvPr>
        </p:nvSpPr>
        <p:spPr>
          <a:xfrm>
            <a:off x="2400869" y="283266"/>
            <a:ext cx="6564573" cy="805366"/>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70C0"/>
              </a:buClr>
              <a:buSzPts val="3600"/>
              <a:buFont typeface="Calibri"/>
              <a:buNone/>
            </a:pPr>
            <a:r>
              <a:rPr b="1" lang="en-US" sz="3600">
                <a:solidFill>
                  <a:srgbClr val="0070C0"/>
                </a:solidFill>
              </a:rPr>
              <a:t>CONCLUSION AND FUTURE SCOPE</a:t>
            </a:r>
            <a:endParaRPr b="1" sz="4000">
              <a:solidFill>
                <a:srgbClr val="0070C0"/>
              </a:solidFill>
            </a:endParaRPr>
          </a:p>
        </p:txBody>
      </p:sp>
      <p:sp>
        <p:nvSpPr>
          <p:cNvPr id="181" name="Google Shape;181;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82" name="Google Shape;182;p11"/>
          <p:cNvSpPr txBox="1"/>
          <p:nvPr>
            <p:ph idx="1" type="body"/>
          </p:nvPr>
        </p:nvSpPr>
        <p:spPr>
          <a:xfrm>
            <a:off x="838200" y="1373188"/>
            <a:ext cx="10515600" cy="4803775"/>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None/>
            </a:pPr>
            <a:r>
              <a:rPr b="1" lang="en-US" sz="1900">
                <a:solidFill>
                  <a:srgbClr val="0070C0"/>
                </a:solidFill>
              </a:rPr>
              <a:t>Conclusion</a:t>
            </a:r>
            <a:endParaRPr/>
          </a:p>
          <a:p>
            <a:pPr indent="-342900" lvl="0" marL="457200" rtl="0" algn="l">
              <a:lnSpc>
                <a:spcPct val="90000"/>
              </a:lnSpc>
              <a:spcBef>
                <a:spcPts val="1000"/>
              </a:spcBef>
              <a:spcAft>
                <a:spcPts val="0"/>
              </a:spcAft>
              <a:buSzPts val="1600"/>
              <a:buChar char="•"/>
            </a:pPr>
            <a:r>
              <a:rPr lang="en-US" sz="1600"/>
              <a:t>The Food Donation &amp; NGO Connect App gives restaurants, households, and NGOs a simple, trusted digital channel to redirect surplus food instead of discarding it.</a:t>
            </a:r>
            <a:endParaRPr/>
          </a:p>
          <a:p>
            <a:pPr indent="-342900" lvl="0" marL="457200" rtl="0" algn="l">
              <a:lnSpc>
                <a:spcPct val="90000"/>
              </a:lnSpc>
              <a:spcBef>
                <a:spcPts val="1000"/>
              </a:spcBef>
              <a:spcAft>
                <a:spcPts val="0"/>
              </a:spcAft>
              <a:buSzPts val="1600"/>
              <a:buChar char="•"/>
            </a:pPr>
            <a:r>
              <a:rPr lang="en-US" sz="1600"/>
              <a:t>By automating NGO verification, geo-matching, scheduling, and notifications, the app reduces the delays that usually cause donated food to spoil before pickup.</a:t>
            </a:r>
            <a:endParaRPr/>
          </a:p>
          <a:p>
            <a:pPr indent="-342900" lvl="0" marL="457200" rtl="0" algn="l">
              <a:lnSpc>
                <a:spcPct val="90000"/>
              </a:lnSpc>
              <a:spcBef>
                <a:spcPts val="1000"/>
              </a:spcBef>
              <a:spcAft>
                <a:spcPts val="0"/>
              </a:spcAft>
              <a:buSzPts val="1600"/>
              <a:buChar char="•"/>
            </a:pPr>
            <a:r>
              <a:rPr lang="en-US" sz="1600"/>
              <a:t>The Impact Dashboard makes the community-level impact of every donation visible, encouraging donors and NGOs to stay engaged over time.</a:t>
            </a:r>
            <a:endParaRPr/>
          </a:p>
          <a:p>
            <a:pPr indent="-342900" lvl="0" marL="457200" rtl="0" algn="l">
              <a:lnSpc>
                <a:spcPct val="90000"/>
              </a:lnSpc>
              <a:spcBef>
                <a:spcPts val="1000"/>
              </a:spcBef>
              <a:spcAft>
                <a:spcPts val="0"/>
              </a:spcAft>
              <a:buSzPts val="1800"/>
              <a:buNone/>
            </a:pPr>
            <a:r>
              <a:rPr b="1" lang="en-US" sz="1900">
                <a:solidFill>
                  <a:srgbClr val="0070C0"/>
                </a:solidFill>
              </a:rPr>
              <a:t>Future Scope</a:t>
            </a:r>
            <a:endParaRPr/>
          </a:p>
          <a:p>
            <a:pPr indent="-342900" lvl="0" marL="457200" rtl="0" algn="l">
              <a:lnSpc>
                <a:spcPct val="90000"/>
              </a:lnSpc>
              <a:spcBef>
                <a:spcPts val="1000"/>
              </a:spcBef>
              <a:spcAft>
                <a:spcPts val="0"/>
              </a:spcAft>
              <a:buSzPts val="1600"/>
              <a:buChar char="•"/>
            </a:pPr>
            <a:r>
              <a:rPr lang="en-US" sz="1600"/>
              <a:t>Extend the platform to iOS to widen the donor and NGO base beyond Android users.</a:t>
            </a:r>
            <a:endParaRPr/>
          </a:p>
          <a:p>
            <a:pPr indent="-342900" lvl="0" marL="457200" rtl="0" algn="l">
              <a:lnSpc>
                <a:spcPct val="90000"/>
              </a:lnSpc>
              <a:spcBef>
                <a:spcPts val="1000"/>
              </a:spcBef>
              <a:spcAft>
                <a:spcPts val="0"/>
              </a:spcAft>
              <a:buSzPts val="1600"/>
              <a:buChar char="•"/>
            </a:pPr>
            <a:r>
              <a:rPr lang="en-US" sz="1600"/>
              <a:t>Introduce AI-based demand prediction to route donations toward the NGOs and areas with the greatest current need.</a:t>
            </a:r>
            <a:endParaRPr/>
          </a:p>
          <a:p>
            <a:pPr indent="-342900" lvl="0" marL="457200" rtl="0" algn="l">
              <a:lnSpc>
                <a:spcPct val="90000"/>
              </a:lnSpc>
              <a:spcBef>
                <a:spcPts val="1000"/>
              </a:spcBef>
              <a:spcAft>
                <a:spcPts val="0"/>
              </a:spcAft>
              <a:buSzPts val="1600"/>
              <a:buChar char="•"/>
            </a:pPr>
            <a:r>
              <a:rPr lang="en-US" sz="1600"/>
              <a:t>Add volunteer or delivery-partner support for donors and NGOs unable to arrange collection themselves.</a:t>
            </a:r>
            <a:endParaRPr/>
          </a:p>
          <a:p>
            <a:pPr indent="-342900" lvl="0" marL="457200" rtl="0" algn="l">
              <a:lnSpc>
                <a:spcPct val="90000"/>
              </a:lnSpc>
              <a:spcBef>
                <a:spcPts val="1000"/>
              </a:spcBef>
              <a:spcAft>
                <a:spcPts val="0"/>
              </a:spcAft>
              <a:buSzPts val="1600"/>
              <a:buChar char="•"/>
            </a:pPr>
            <a:r>
              <a:rPr lang="en-US" sz="1600"/>
              <a:t>Support multiple regional languages to make the app accessible to a wider range of donors and NGOs.</a:t>
            </a:r>
            <a:endParaRPr/>
          </a:p>
          <a:p>
            <a:pPr indent="-342900" lvl="0" marL="457200" rtl="0" algn="l">
              <a:lnSpc>
                <a:spcPct val="90000"/>
              </a:lnSpc>
              <a:spcBef>
                <a:spcPts val="1000"/>
              </a:spcBef>
              <a:spcAft>
                <a:spcPts val="0"/>
              </a:spcAft>
              <a:buSzPts val="1600"/>
              <a:buChar char="•"/>
            </a:pPr>
            <a:r>
              <a:rPr lang="en-US" sz="1600"/>
              <a:t>Introduce recognition or reward features for consistent donors to further encourage long-term participation.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6" name="Shape 186"/>
        <p:cNvGrpSpPr/>
        <p:nvPr/>
      </p:nvGrpSpPr>
      <p:grpSpPr>
        <a:xfrm>
          <a:off x="0" y="0"/>
          <a:ext cx="0" cy="0"/>
          <a:chOff x="0" y="0"/>
          <a:chExt cx="0" cy="0"/>
        </a:xfrm>
      </p:grpSpPr>
      <p:sp>
        <p:nvSpPr>
          <p:cNvPr id="187" name="Google Shape;187;p12"/>
          <p:cNvSpPr txBox="1"/>
          <p:nvPr>
            <p:ph idx="1" type="body"/>
          </p:nvPr>
        </p:nvSpPr>
        <p:spPr>
          <a:xfrm>
            <a:off x="838200" y="740780"/>
            <a:ext cx="10515600" cy="543618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0" lvl="0" marL="0" rtl="0" algn="ctr">
              <a:lnSpc>
                <a:spcPct val="90000"/>
              </a:lnSpc>
              <a:spcBef>
                <a:spcPts val="1000"/>
              </a:spcBef>
              <a:spcAft>
                <a:spcPts val="0"/>
              </a:spcAft>
              <a:buClr>
                <a:schemeClr val="dk1"/>
              </a:buClr>
              <a:buSzPts val="4400"/>
              <a:buNone/>
            </a:pPr>
            <a:r>
              <a:t/>
            </a:r>
            <a:endParaRPr sz="4400"/>
          </a:p>
          <a:p>
            <a:pPr indent="0" lvl="0" marL="0" rtl="0" algn="ctr">
              <a:lnSpc>
                <a:spcPct val="90000"/>
              </a:lnSpc>
              <a:spcBef>
                <a:spcPts val="1000"/>
              </a:spcBef>
              <a:spcAft>
                <a:spcPts val="0"/>
              </a:spcAft>
              <a:buClr>
                <a:schemeClr val="dk1"/>
              </a:buClr>
              <a:buSzPts val="4400"/>
              <a:buNone/>
            </a:pPr>
            <a:r>
              <a:t/>
            </a:r>
            <a:endParaRPr sz="4400"/>
          </a:p>
          <a:p>
            <a:pPr indent="0" lvl="0" marL="0" rtl="0" algn="ctr">
              <a:lnSpc>
                <a:spcPct val="90000"/>
              </a:lnSpc>
              <a:spcBef>
                <a:spcPts val="1000"/>
              </a:spcBef>
              <a:spcAft>
                <a:spcPts val="0"/>
              </a:spcAft>
              <a:buClr>
                <a:srgbClr val="0070C0"/>
              </a:buClr>
              <a:buSzPts val="4400"/>
              <a:buNone/>
            </a:pPr>
            <a:r>
              <a:rPr b="1" lang="en-US" sz="4400">
                <a:solidFill>
                  <a:srgbClr val="0070C0"/>
                </a:solidFill>
              </a:rPr>
              <a:t>THANK YOU</a:t>
            </a:r>
            <a:endParaRPr/>
          </a:p>
        </p:txBody>
      </p:sp>
      <p:sp>
        <p:nvSpPr>
          <p:cNvPr id="188" name="Google Shape;18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